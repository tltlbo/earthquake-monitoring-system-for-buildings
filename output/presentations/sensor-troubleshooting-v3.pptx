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cbf35cd8eb949fb" /><Relationship Type="http://schemas.openxmlformats.org/officeDocument/2006/relationships/extended-properties" Target="/docProps/app.xml" Id="R0b8e0c15a7814cd7" /><Relationship Type="http://schemas.openxmlformats.org/officeDocument/2006/relationships/officeDocument" Target="/ppt/presentation.xml" Id="R743799b6952f4a73" /></Relationships>
</file>

<file path=ppt/presentation.xml><?xml version="1.0" encoding="utf-8"?>
<p:presentation xmlns:p="http://schemas.openxmlformats.org/presentationml/2006/main">
  <p:sldMasterIdLst>
    <p:sldMasterId xmlns:r="http://schemas.openxmlformats.org/officeDocument/2006/relationships" id="2147483648" r:id="R5d665b97b9454c3f"/>
  </p:sldMasterIdLst>
  <p:notesMasterIdLst>
    <p:notesMasterId xmlns:r="http://schemas.openxmlformats.org/officeDocument/2006/relationships" r:id="R53dd688427bc4756"/>
  </p:notesMasterIdLst>
  <p:sldIdLst>
    <p:sldId xmlns:r="http://schemas.openxmlformats.org/officeDocument/2006/relationships" id="256" r:id="R128a1e7ff660453e"/>
    <p:sldId xmlns:r="http://schemas.openxmlformats.org/officeDocument/2006/relationships" id="257" r:id="R239909d390f94eb7"/>
    <p:sldId xmlns:r="http://schemas.openxmlformats.org/officeDocument/2006/relationships" id="258" r:id="Rb210010b7ddb43e8"/>
    <p:sldId xmlns:r="http://schemas.openxmlformats.org/officeDocument/2006/relationships" id="259" r:id="R41a111f02d404423"/>
    <p:sldId xmlns:r="http://schemas.openxmlformats.org/officeDocument/2006/relationships" id="260" r:id="R056f21b7d58b4bc6"/>
    <p:sldId xmlns:r="http://schemas.openxmlformats.org/officeDocument/2006/relationships" id="261" r:id="R4f1af146ef514fa5"/>
    <p:sldId xmlns:r="http://schemas.openxmlformats.org/officeDocument/2006/relationships" id="262" r:id="R3078867e97024379"/>
    <p:sldId xmlns:r="http://schemas.openxmlformats.org/officeDocument/2006/relationships" id="263" r:id="Rc26d99c7eb0648a0"/>
    <p:sldId xmlns:r="http://schemas.openxmlformats.org/officeDocument/2006/relationships" id="264" r:id="R161dd93af5fe4791"/>
    <p:sldId xmlns:r="http://schemas.openxmlformats.org/officeDocument/2006/relationships" id="265" r:id="R323c9cf06a7e4d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87d1bfffc64cf5" /><Relationship Type="http://schemas.openxmlformats.org/officeDocument/2006/relationships/slideMaster" Target="/ppt/slideMasters/slideMaster1.xml" Id="R5d665b97b9454c3f" /><Relationship Type="http://schemas.openxmlformats.org/officeDocument/2006/relationships/notesMaster" Target="/ppt/notesMasters/notesMaster1.xml" Id="R53dd688427bc4756" /><Relationship Type="http://schemas.openxmlformats.org/officeDocument/2006/relationships/presProps" Target="/ppt/presProps.xml" Id="R4ae2e58dfe3c4dc0" /><Relationship Type="http://schemas.openxmlformats.org/officeDocument/2006/relationships/tableStyles" Target="/ppt/tableStyles.xml" Id="Ra223166f682941e3" /><Relationship Type="http://schemas.openxmlformats.org/officeDocument/2006/relationships/slide" Target="/ppt/slides/slide1.xml" Id="R128a1e7ff660453e" /><Relationship Type="http://schemas.openxmlformats.org/officeDocument/2006/relationships/slide" Target="/ppt/slides/slide2.xml" Id="R239909d390f94eb7" /><Relationship Type="http://schemas.openxmlformats.org/officeDocument/2006/relationships/slide" Target="/ppt/slides/slide3.xml" Id="Rb210010b7ddb43e8" /><Relationship Type="http://schemas.openxmlformats.org/officeDocument/2006/relationships/slide" Target="/ppt/slides/slide4.xml" Id="R41a111f02d404423" /><Relationship Type="http://schemas.openxmlformats.org/officeDocument/2006/relationships/slide" Target="/ppt/slides/slide5.xml" Id="R056f21b7d58b4bc6" /><Relationship Type="http://schemas.openxmlformats.org/officeDocument/2006/relationships/slide" Target="/ppt/slides/slide6.xml" Id="R4f1af146ef514fa5" /><Relationship Type="http://schemas.openxmlformats.org/officeDocument/2006/relationships/slide" Target="/ppt/slides/slide7.xml" Id="R3078867e97024379" /><Relationship Type="http://schemas.openxmlformats.org/officeDocument/2006/relationships/slide" Target="/ppt/slides/slide8.xml" Id="Rc26d99c7eb0648a0" /><Relationship Type="http://schemas.openxmlformats.org/officeDocument/2006/relationships/slide" Target="/ppt/slides/slide9.xml" Id="R161dd93af5fe4791" /><Relationship Type="http://schemas.openxmlformats.org/officeDocument/2006/relationships/slide" Target="/ppt/slides/slide10.xml" Id="R323c9cf06a7e4d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7382e96f124f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ea2a537e2449bc" /><Relationship Type="http://schemas.openxmlformats.org/officeDocument/2006/relationships/notesMaster" Target="/ppt/notesMasters/notesMaster1.xml" Id="R81c49974a0b345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4e5770e8c1466b" /><Relationship Type="http://schemas.openxmlformats.org/officeDocument/2006/relationships/notesMaster" Target="/ppt/notesMasters/notesMaster1.xml" Id="R42f475835b014b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671553e59842ce" /><Relationship Type="http://schemas.openxmlformats.org/officeDocument/2006/relationships/notesMaster" Target="/ppt/notesMasters/notesMaster1.xml" Id="R4f2b248034bf44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bd3db504f274cbe" /><Relationship Type="http://schemas.openxmlformats.org/officeDocument/2006/relationships/notesMaster" Target="/ppt/notesMasters/notesMaster1.xml" Id="R18b4f9b0be764c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57a148fe3a4a52" /><Relationship Type="http://schemas.openxmlformats.org/officeDocument/2006/relationships/notesMaster" Target="/ppt/notesMasters/notesMaster1.xml" Id="R5797b511aab549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43fe96fce348c8" /><Relationship Type="http://schemas.openxmlformats.org/officeDocument/2006/relationships/notesMaster" Target="/ppt/notesMasters/notesMaster1.xml" Id="R8dde19ea2a4d45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a6f2363fbd45f1" /><Relationship Type="http://schemas.openxmlformats.org/officeDocument/2006/relationships/notesMaster" Target="/ppt/notesMasters/notesMaster1.xml" Id="Rb7c3bf4bcf9c46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d8540e7bc143ac" /><Relationship Type="http://schemas.openxmlformats.org/officeDocument/2006/relationships/notesMaster" Target="/ppt/notesMasters/notesMaster1.xml" Id="R672e07243fca42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e8b1c51b7c4bcd" /><Relationship Type="http://schemas.openxmlformats.org/officeDocument/2006/relationships/notesMaster" Target="/ppt/notesMasters/notesMaster1.xml" Id="R5a0d2b939f264af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3617545d7a49bf" /><Relationship Type="http://schemas.openxmlformats.org/officeDocument/2006/relationships/notesMaster" Target="/ppt/notesMasters/notesMaster1.xml" Id="Rd193ec43162e47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센서값은 STM32와 ESP를 거쳐 중계 서버에 들어가고, 서버가 관제로 전달합니다. 전송이 잦아지면 송수신과 메시지 처리도 늘어납니다. 사용자 보고는 서버 부하이며 코드 주석은 100 ms 전송이 제어 명령 수신을 방해했다고 설명합니다. 병목 위치는 계측이 필요합니다. 코드 근거: hardware/earthquake_detection/Core/Src/main.c, hardware/earthquake_detection/Core/Src/esp.c, SERVER/iot_server.c, SQLClient/central_client.c. 기준 커밋: 957289f. 사용자 설명: 중계 서버 부하 때문에 전송 주기를 늦춘 경험. 서버 CPU나 처리량 실측은 없음. 그림은 AI 생성 개념도이며 실제 장치 사진이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먼저 1초 주기로 늦춰 통신 부하 완화를 시도했습니다. 중요한 점은 현재 코드가 전송 시점에만 센서를 한 번 읽는다는 것입니다. 1초 동안의 흔들림을 모아 보내지는 않습니다. 통신량과 부하 개선률은 실측하지 않았습니다. 코드 근거: hardware/earthquake_detection/Core/Src/main.c, hardware/earthquake_detection/Core/Src/esp.c, SERVER/iot_server.c, SQLClient/central_client.c. 기준 커밋: 957289f. 사용자 설명: 중계 서버 부하 때문에 전송 주기를 늦춘 경험. 서버 CPU나 처리량 실측은 없음. 그림은 AI 생성 개념도입니다.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설명용으로 0초와 1초에는 변화가 0이지만 그 사이에 양수와 음수로 반복해서 흔들리는 상황을 보겠습니다. STM32가 양 끝만 읽으면 관제는 0과 0만 봅니다. 지진 중이어도 그 시점의 가속도가 작으면 미탐할 수 있습니다. 이 그래프는 실측 지진 데이터가 아닌 원리 설명용 가상 값이며 한 축의 기준 대비 변화입니다. 실제 미탐 원인은 원본 로그로 확인해야 합니다. 코드 근거: hardware/earthquake_detection/Core/Src/main.c, hardware/earthquake_detection/Core/Src/esp.c, SERVER/iot_server.c, SQLClient/central_client.c. 기준 커밋: 957289f. 사용자 설명: 중계 서버 부하 때문에 전송 주기를 늦춘 경험. 서버 CPU나 처리량 실측은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센서를 읽는 속도와 네트워크로 보내는 속도를 분리하겠습니다. 보드는 빠르게 읽고 구간의 흔들림을 계산합니다. 이상 시작, 등급 변화, 회복 때 이벤트를 전송하고 정상 때는 낮은 빈도로 생존 신호를 보냅니다. 관제는 센서 결과와 Jetson 영상을 결합합니다. 현재 구현 전이므로 개선안입니다. 전송은 큐에 넣되 블로킹 ESP 처리 중에도 취득이 유지되게 설계해야 합니다. 코드 근거: hardware/earthquake_detection/Core/Src/main.c, hardware/earthquake_detection/Core/Src/esp.c, SERVER/iot_server.c, SQLClient/central_client.c. 기준 커밋: 957289f. 사용자 설명: 중계 서버 부하 때문에 전송 주기를 늦춘 경험. 서버 CPU나 처리량 실측은 없음. 그림은 AI 생성 개념도입니다.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구간은 최근 일정 시간의 센서값을 모아 보는 범위입니다. 예를 들어 10 ms마다 취득하고 최근 20개를 보관하면 약 200 ms 구간을 평가합니다. 첫 시각과 끝 시각 차이는 190 ms이며 여기서 200 ms는 20개 샘플 간격을 기준으로 부른 것입니다. 20개를 확보한 뒤 새 샘플마다 가장 오래된 것을 빼고 새 값을 넣는 이동 구간으로 갱신할 수 있습니다. 짧은 구간과 긴 구간을 비교해 미탐·오탐·지연을 평가합니다. 모든 수치는 초기 실험 후보이며 확정 설정이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시작과 끝이 같더라도 구간 최대와 최소는 다릅니다. 예시 최대는 +2000, 최소는 -2000이라 차이가 4000입니다. 기준 대비 RMS도 양수와 음수가 단순 평균처럼 상쇄되지 않아 후보 지표가 됩니다. 현재 서버의 XYZ 제곱합 크기는 부호 변화를 잃을 수 있으므로 현재 계산식을 그대로 옮기는 것만으로 해결되지 않을 수 있습니다. 값과 취득 주기는 예시입니다. 임계값, 중력·설치 방향 보정은 정상과 이상 실험으로 정합니다. 코드 근거: hardware/earthquake_detection/Core/Src/main.c, hardware/earthquake_detection/Core/Src/esp.c, SERVER/iot_server.c, SQLClient/central_client.c. 기준 커밋: 957289f. 사용자 설명: 중계 서버 부하 때문에 전송 주기를 늦춘 경험. 서버 CPU나 처리량 실측은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기준 대비 변화가 0, +2000, -2000, 0이면 평균은 0이지만 흔들림은 분명히 있었습니다. 제곱 평균은 2,000,000이고 제곱근은 약 1414 raw입니다. 이것이 RMS입니다. 최대-최소는 극단의 폭, RMS는 구간 전반의 크기를 보므로 두 지표를 비교합니다. RMS는 지속 여부나 지진 원인을 직접 판별하지 못하고 단발 충격에도 커질 수 있습니다. 중력이 포함된 raw값을 그대로 사용하지 말고 설치 기준 대비 변화량으로 계산해야 합니다. 4개 샘플은 계산 설명용 가상값입니다. 출처: https://www.mathworks.com/help/matlab/ref/rms.html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먼저 정상 정지와 일상 진동을 수집해 기준과 잡음 범위를 확인합니다. 그 다음 빠른 취득과 구간 계산을 검증하고 정상과 이상 데이터로 축별 RMS와 최대-최소 임계값을 비교합니다. 초기 후보 규칙은 어느 한 축의 지표가 기준을 넘으면 이상 후보로 전송하는 방식이지만 오탐 비용이 있어 실제 데이터로 선정해야 합니다. 상태 변경 시 송신 큐에 넣고 계속 같은 상태면 재전송을 제한합니다. 복귀 기준은 진입보다 낮게 두고 검증한 지속 시간을 만족하면 회복을 전송합니다. 관제는 시간 정렬 후 영상과 결합해 최종 판정합니다. 겹치는 구간은 독립 관측이 아니고 RMS 초과는 지진 확정이 아닙니다. 현재 송수신 규약도 함께 바꿔야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지진 관제에서는 작은 이상 변화와 짧은 진동을 놓치지 않는 것을 우선했습니다. 필요한 신호 대역과 필터 설정을 검증하기 전에는 소프트웨어 FIR/IIR 적용을 보류한다는 설계 근거입니다. 평활화 필터는 짧은 피크를 줄일 수 있고 필터 설계에 따라 군지연이 생길 수 있습니다. 그러나 필터가 항상 감도를 낮추는 것은 아니며 적절한 잡음 제거는 감지를 돕습니다. 미적용은 오탐 증가 가능성도 있습니다. 센서 내부 DLPF와 anti-alias 처리는 별도로 검토해야 합니다. 현재 1초 취득과 판정 타이머 때문에 지연이 있으므로 필터 미적용을 무지연이나 높은 민감도 입증으로 표현하지 않습니다. 사용자 제시 설계 근거이며 비교 실험 결과가 아닙니다. 근거: https://docs.scipy.org/doc/scipy/reference/generated/scipy.signal.firwin.html 및 https://docs.scipy.org/doc/scipy/reference/generated/scipy.signal.group_delay.html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먼저 센서 취득 작업과 통신 작업을 나누고, 송신 중에도 샘플 간격이 유지되는지 확인합니다. 구간 시작·끝 시각, 샘플 수, 순번, 특징값을 전송하도록 송수신 규약을 함께 바꿉니다. 이벤트가 없다는 이유로 정상이라고 단정하지 않고 heartbeat 만료를 구분합니다. 1초 사이 짧은 충격, 양음 진동, 정상 정지, 전송 실패를 재현해 미탐과 지연, 통신량을 비교합니다. 아직 구현 및 성능 개선 결과는 없습니다. 코드 근거: hardware/earthquake_detection/Core/Src/main.c, hardware/earthquake_detection/Core/Src/esp.c, SERVER/iot_server.c, SQLClient/central_client.c. 기준 커밋: 957289f. 사용자 설명: 중계 서버 부하 때문에 전송 주기를 늦춘 경험. 서버 CPU나 처리량 실측은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e502c92392421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a56c1562f0a461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217da7a1cbb473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9a4994affa446b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caa821c5cc2481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cb6cdb55a1b49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5A3A25-6F55-452A-BA01-49A3B0E2B35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DB3B375-1DF8-40F6-BB08-D9425F4C2DA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3AC6414-5D5A-46BB-8F22-CE794F3E80B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C58228-AE61-49F3-A364-F377E7DF05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A54DEDD-12D9-438F-980E-A14DC871ED7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2DA3222-769F-4297-ACB8-F5CA924470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74B144-E60D-4A5D-B311-24A7F24D19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6C1A948-A35B-4B4E-8149-322020B1372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EFB776-DB5A-4344-AE13-5107DC5FD4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08DBB2-BD14-4215-B4C1-E105EF6CE80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155ddd9b17c410a" /><Relationship Type="http://schemas.openxmlformats.org/officeDocument/2006/relationships/slideLayout" Target="/ppt/slideLayouts/slideLayout1.xml" Id="Rac5b96a165d6400b" /><Relationship Type="http://schemas.openxmlformats.org/officeDocument/2006/relationships/slideLayout" Target="/ppt/slideLayouts/slideLayout2.xml" Id="R294d1306f3354334" /><Relationship Type="http://schemas.openxmlformats.org/officeDocument/2006/relationships/slideLayout" Target="/ppt/slideLayouts/slideLayout3.xml" Id="Rd0a8f9fef78e4027" /><Relationship Type="http://schemas.openxmlformats.org/officeDocument/2006/relationships/slideLayout" Target="/ppt/slideLayouts/slideLayout4.xml" Id="Ra992e74bdc864be2" /><Relationship Type="http://schemas.openxmlformats.org/officeDocument/2006/relationships/slideLayout" Target="/ppt/slideLayouts/slideLayout5.xml" Id="R728dee8980714c7d" /><Relationship Type="http://schemas.openxmlformats.org/officeDocument/2006/relationships/slideLayout" Target="/ppt/slideLayouts/slideLayout6.xml" Id="R4fb557ddc30141f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5b96a165d6400b"/>
    <p:sldLayoutId xmlns:r="http://schemas.openxmlformats.org/officeDocument/2006/relationships" id="2147483650" r:id="R294d1306f3354334"/>
    <p:sldLayoutId xmlns:r="http://schemas.openxmlformats.org/officeDocument/2006/relationships" id="2147483651" r:id="Rd0a8f9fef78e4027"/>
    <p:sldLayoutId xmlns:r="http://schemas.openxmlformats.org/officeDocument/2006/relationships" id="2147483652" r:id="Ra992e74bdc864be2"/>
    <p:sldLayoutId xmlns:r="http://schemas.openxmlformats.org/officeDocument/2006/relationships" id="2147483653" r:id="R728dee8980714c7d"/>
    <p:sldLayoutId xmlns:r="http://schemas.openxmlformats.org/officeDocument/2006/relationships" id="2147483654" r:id="R4fb557ddc30141f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7aa9d0f071444da" /><Relationship Type="http://schemas.openxmlformats.org/officeDocument/2006/relationships/image" Target="/ppt/media/image.png" Id="Rbb117de707d94b6a" /><Relationship Type="http://schemas.openxmlformats.org/officeDocument/2006/relationships/notesSlide" Target="/ppt/notesSlides/notesSlide1.xml" Id="Rdd4efe4ea68545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60951e9740d4cb5" /><Relationship Type="http://schemas.openxmlformats.org/officeDocument/2006/relationships/image" Target="/ppt/media/image2.png" Id="R6652778c8f0642c7" /><Relationship Type="http://schemas.openxmlformats.org/officeDocument/2006/relationships/notesSlide" Target="/ppt/notesSlides/notesSlide2.xml" Id="R0d3fbe1dc82f41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c0ec935e0a14247" /><Relationship Type="http://schemas.openxmlformats.org/officeDocument/2006/relationships/chart" Target="/ppt/slides/charts/chart1.xml" Id="Rab40e2d595054f38" /><Relationship Type="http://schemas.openxmlformats.org/officeDocument/2006/relationships/notesSlide" Target="/ppt/notesSlides/notesSlide3.xml" Id="Rbbf9b2466f3745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d32ccc376aa4b3f" /><Relationship Type="http://schemas.openxmlformats.org/officeDocument/2006/relationships/image" Target="/ppt/media/image3.png" Id="R3979a6b1729b4168" /><Relationship Type="http://schemas.openxmlformats.org/officeDocument/2006/relationships/notesSlide" Target="/ppt/notesSlides/notesSlide4.xml" Id="Rb436d42519734d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2eb86db75af48af" /><Relationship Type="http://schemas.openxmlformats.org/officeDocument/2006/relationships/notesSlide" Target="/ppt/notesSlides/notesSlide5.xml" Id="R7b938f8ab2f241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39f19f97324449c" /><Relationship Type="http://schemas.openxmlformats.org/officeDocument/2006/relationships/chart" Target="/ppt/slides/charts/chart2.xml" Id="R8ec351b4e29b4aea" /><Relationship Type="http://schemas.openxmlformats.org/officeDocument/2006/relationships/notesSlide" Target="/ppt/notesSlides/notesSlide6.xml" Id="Rac2443ed9d2b43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b0518a21ce94981" /><Relationship Type="http://schemas.openxmlformats.org/officeDocument/2006/relationships/notesSlide" Target="/ppt/notesSlides/notesSlide7.xml" Id="R27914a44aad64cb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1f9ef6167b4426b" /><Relationship Type="http://schemas.openxmlformats.org/officeDocument/2006/relationships/notesSlide" Target="/ppt/notesSlides/notesSlide8.xml" Id="R8aff1aeed07e4db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83ddf86786f47f9" /><Relationship Type="http://schemas.openxmlformats.org/officeDocument/2006/relationships/notesSlide" Target="/ppt/notesSlides/notesSlide9.xml" Id="Rc9ef40eabdc740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618c8f7f3e448f7" /><Relationship Type="http://schemas.openxmlformats.org/officeDocument/2006/relationships/notesSlide" Target="/ppt/notesSlides/notesSlide10.xml" Id="Re60500f40d594ee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실제 변화 예시</c:v>
          </c:tx>
          <c:spPr>
            <a:ln xmlns:a="http://schemas.openxmlformats.org/drawingml/2006/main" w="38100">
              <a:solidFill>
                <a:srgbClr val="087E82"/>
              </a:solidFill>
              <a:prstDash val="solid"/>
            </a:ln>
          </c:spPr>
          <c:marker>
            <c:symbol val="circle"/>
            <c:size val="7"/>
            <c:spPr>
              <a:solidFill xmlns:a="http://schemas.openxmlformats.org/drawingml/2006/main">
                <a:srgbClr val="087E82"/>
              </a:solidFill>
            </c:spPr>
          </c:marker>
          <c:xVal>
            <c:numRef>
              <c:f>'Chart Data'!$A$2:$A$7</c:f>
              <c:numCache>
                <c:formatCode>General</c:formatCode>
                <c:ptCount val="6"/>
                <c:pt idx="0">
                  <c:v>0</c:v>
                </c:pt>
                <c:pt idx="1">
                  <c:v>0.2</c:v>
                </c:pt>
                <c:pt idx="2">
                  <c:v>0.4</c:v>
                </c:pt>
                <c:pt idx="3">
                  <c:v>0.6</c:v>
                </c:pt>
                <c:pt idx="4">
                  <c:v>0.8</c:v>
                </c:pt>
                <c:pt idx="5">
                  <c:v>1</c:v>
                </c:pt>
              </c:numCache>
            </c:numRef>
          </c:xVal>
          <c:yVal>
            <c:numRef>
              <c:f>'Chart Data'!$B$2:$B$7</c:f>
              <c:numCache>
                <c:formatCode>General</c:formatCode>
                <c:ptCount val="6"/>
                <c:pt idx="0">
                  <c:v>0</c:v>
                </c:pt>
                <c:pt idx="1">
                  <c:v>2000</c:v>
                </c:pt>
                <c:pt idx="2">
                  <c:v>-2000</c:v>
                </c:pt>
                <c:pt idx="3">
                  <c:v>2000</c:v>
                </c:pt>
                <c:pt idx="4">
                  <c:v>-2000</c:v>
                </c:pt>
                <c:pt idx="5">
                  <c:v>0</c:v>
                </c:pt>
              </c:numCache>
            </c:numRef>
          </c:yVal>
        </c:ser>
        <c:ser>
          <c:idx val="1"/>
          <c:order val="1"/>
          <c:tx>
            <c:v>1초마다 읽은 값</c:v>
          </c:tx>
          <c:spPr>
            <a:ln xmlns:a="http://schemas.openxmlformats.org/drawingml/2006/main" w="0">
              <a:solidFill>
                <a:srgbClr val="D57628"/>
              </a:solidFill>
              <a:prstDash val="solid"/>
            </a:ln>
          </c:spPr>
          <c:marker>
            <c:symbol val="circle"/>
            <c:size val="14"/>
            <c:spPr>
              <a:solidFill xmlns:a="http://schemas.openxmlformats.org/drawingml/2006/main">
                <a:srgbClr val="D57628"/>
              </a:solidFill>
            </c:spPr>
          </c:marker>
          <c:xVal>
            <c:numRef>
              <c:f>'Chart Data'!$C$2:$C$3</c:f>
              <c:numCache>
                <c:formatCode>General</c:formatCode>
                <c:ptCount val="2"/>
                <c:pt idx="0">
                  <c:v>0</c:v>
                </c:pt>
                <c:pt idx="1">
                  <c:v>1</c:v>
                </c:pt>
              </c:numCache>
            </c:numRef>
          </c:xVal>
          <c:yVal>
            <c:numRef>
              <c:f>'Chart Data'!$D$2:$D$3</c:f>
              <c:numCache>
                <c:formatCode>General</c:formatCode>
                <c:ptCount val="2"/>
                <c:pt idx="0">
                  <c:v>0</c:v>
                </c:pt>
                <c:pt idx="1">
                  <c:v>0</c:v>
                </c:pt>
              </c:numCache>
            </c:numRef>
          </c:y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max val="2500"/>
          <c:min val="-2500"/>
        </c:scaling>
        <c:delete val="0"/>
        <c:axPos val="l"/>
        <c:majorGridlines>
          <c:spPr>
            <a:ln xmlns:a="http://schemas.openxmlformats.org/drawingml/2006/main" w="9525">
              <a:solidFill>
                <a:srgbClr val="DCE3E2"/>
              </a:solidFill>
              <a:prstDash val="solid"/>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기준 대비 변화 (raw)</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773"/>
                </a:solidFill>
                <a:latin typeface="Malgun Gothic"/>
                <a:ea typeface="Malgun Gothic"/>
                <a:cs typeface="Malgun Gothic"/>
              </a:defRPr>
            </a:pPr>
          </a:p>
        </c:txPr>
        <c:crossAx val="48650112"/>
        <c:crossesAt val="-2500"/>
        <c:majorUnit val="1000"/>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시간 (초)</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773"/>
                </a:solidFill>
                <a:latin typeface="Malgun Gothic"/>
                <a:ea typeface="Malgun Gothic"/>
                <a:cs typeface="Malgun Gothic"/>
              </a:defRPr>
            </a:pPr>
          </a:p>
        </c:txPr>
        <c:crossAx val="48672768"/>
        <c:majorUnit val="0.2"/>
      </c:valAx>
      <c:spPr>
        <a:solidFill xmlns:a="http://schemas.openxmlformats.org/drawingml/2006/main">
          <a:srgbClr val="F7F8F6"/>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Malgun Gothic"/>
              <a:ea typeface="Malgun Gothic"/>
              <a:cs typeface="Malgun Gothic"/>
            </a:defRPr>
          </a:pPr>
        </a:p>
      </c:txPr>
    </c:legend>
    <c:plotVisOnly val="1"/>
    <c:dispBlanksAs val="gap"/>
  </c:chart>
  <c:spPr>
    <a:solidFill xmlns:a="http://schemas.openxmlformats.org/drawingml/2006/main">
      <a:srgbClr val="F7F8F6"/>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실제 변화 예시</c:v>
          </c:tx>
          <c:spPr>
            <a:ln xmlns:a="http://schemas.openxmlformats.org/drawingml/2006/main" w="38100">
              <a:solidFill>
                <a:srgbClr val="087E82"/>
              </a:solidFill>
              <a:prstDash val="solid"/>
            </a:ln>
          </c:spPr>
          <c:marker>
            <c:symbol val="circle"/>
            <c:size val="7"/>
            <c:spPr>
              <a:solidFill xmlns:a="http://schemas.openxmlformats.org/drawingml/2006/main">
                <a:srgbClr val="087E82"/>
              </a:solidFill>
            </c:spPr>
          </c:marker>
          <c:xVal>
            <c:numRef>
              <c:f>'Chart Data'!$A$2:$A$7</c:f>
              <c:numCache>
                <c:formatCode>General</c:formatCode>
                <c:ptCount val="6"/>
                <c:pt idx="0">
                  <c:v>0</c:v>
                </c:pt>
                <c:pt idx="1">
                  <c:v>0.2</c:v>
                </c:pt>
                <c:pt idx="2">
                  <c:v>0.4</c:v>
                </c:pt>
                <c:pt idx="3">
                  <c:v>0.6</c:v>
                </c:pt>
                <c:pt idx="4">
                  <c:v>0.8</c:v>
                </c:pt>
                <c:pt idx="5">
                  <c:v>1</c:v>
                </c:pt>
              </c:numCache>
            </c:numRef>
          </c:xVal>
          <c:yVal>
            <c:numRef>
              <c:f>'Chart Data'!$B$2:$B$7</c:f>
              <c:numCache>
                <c:formatCode>General</c:formatCode>
                <c:ptCount val="6"/>
                <c:pt idx="0">
                  <c:v>0</c:v>
                </c:pt>
                <c:pt idx="1">
                  <c:v>2000</c:v>
                </c:pt>
                <c:pt idx="2">
                  <c:v>-2000</c:v>
                </c:pt>
                <c:pt idx="3">
                  <c:v>2000</c:v>
                </c:pt>
                <c:pt idx="4">
                  <c:v>-2000</c:v>
                </c:pt>
                <c:pt idx="5">
                  <c:v>0</c:v>
                </c:pt>
              </c:numCache>
            </c:numRef>
          </c:y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max val="2500"/>
          <c:min val="-2500"/>
        </c:scaling>
        <c:delete val="0"/>
        <c:axPos val="l"/>
        <c:majorGridlines>
          <c:spPr>
            <a:ln xmlns:a="http://schemas.openxmlformats.org/drawingml/2006/main" w="9525">
              <a:solidFill>
                <a:srgbClr val="DCE3E2"/>
              </a:solidFill>
              <a:prstDash val="solid"/>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기준 대비 변화 (raw)</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773"/>
                </a:solidFill>
                <a:latin typeface="Malgun Gothic"/>
                <a:ea typeface="Malgun Gothic"/>
                <a:cs typeface="Malgun Gothic"/>
              </a:defRPr>
            </a:pPr>
          </a:p>
        </c:txPr>
        <c:crossAx val="48650112"/>
        <c:crossesAt val="-2500"/>
        <c:majorUnit val="1000"/>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시간 (초)</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773"/>
                </a:solidFill>
                <a:latin typeface="Malgun Gothic"/>
                <a:ea typeface="Malgun Gothic"/>
                <a:cs typeface="Malgun Gothic"/>
              </a:defRPr>
            </a:pPr>
          </a:p>
        </c:txPr>
        <c:crossAx val="48672768"/>
        <c:majorUnit val="0.2"/>
      </c:valAx>
      <c:spPr>
        <a:solidFill xmlns:a="http://schemas.openxmlformats.org/drawingml/2006/main">
          <a:srgbClr val="F7F8F6"/>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Malgun Gothic"/>
              <a:ea typeface="Malgun Gothic"/>
              <a:cs typeface="Malgun Gothic"/>
            </a:defRPr>
          </a:pPr>
        </a:p>
      </c:txPr>
    </c:legend>
    <c:plotVisOnly val="1"/>
    <c:dispBlanksAs val="gap"/>
  </c:chart>
  <c:spPr>
    <a:solidFill xmlns:a="http://schemas.openxmlformats.org/drawingml/2006/main">
      <a:srgbClr val="F7F8F6"/>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9" name="중계 서버를 거치는 센서 통신">
            <a:extLst xmlns:a="http://schemas.openxmlformats.org/drawingml/2006/main">
              <a:ext uri="{FF2B5EF4-FFF2-40B4-BE49-F238E27FC236}">
                <a16:creationId xmlns:a16="http://schemas.microsoft.com/office/drawing/2014/main" id="{1947CD6F-272C-4F90-9106-70B18F5481C7}"/>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중계 서버를 거치는 센서 통신</a:t>
            </a:r>
          </a:p>
        </p:txBody>
      </p:sp>
      <p:sp>
        <p:nvSpPr>
          <p:cNvPr id="2" name="01">
            <a:extLst xmlns:a="http://schemas.openxmlformats.org/drawingml/2006/main">
              <a:ext uri="{FF2B5EF4-FFF2-40B4-BE49-F238E27FC236}">
                <a16:creationId xmlns:a16="http://schemas.microsoft.com/office/drawing/2014/main" id="{4E7533DE-E207-4338-9766-853E1590E3E8}"/>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01</a:t>
            </a:r>
          </a:p>
        </p:txBody>
      </p:sp>
      <p:pic>
        <p:nvPicPr>
          <p:cNvPr id="3" name="">
            <a:extLst xmlns:a="http://schemas.openxmlformats.org/drawingml/2006/main">
              <a:ext uri="{FF2B5EF4-FFF2-40B4-BE49-F238E27FC236}">
                <a16:creationId xmlns:a16="http://schemas.microsoft.com/office/drawing/2014/main" id="{E0E0F23D-5BCC-4947-9B62-35154F049A32}"/>
              </a:ext>
            </a:extLst>
          </p:cNvPr>
          <p:cNvPicPr>
            <a:picLocks xmlns:a="http://schemas.openxmlformats.org/drawingml/2006/main" noChangeAspect="1"/>
          </p:cNvPicPr>
          <p:nvPr/>
        </p:nvPicPr>
        <p:blipFill>
          <a:blip xmlns:r="http://schemas.openxmlformats.org/officeDocument/2006/relationships" xmlns:a="http://schemas.openxmlformats.org/drawingml/2006/main" r:embed="Rbb117de707d94b6a"/>
          <a:stretch xmlns:a="http://schemas.openxmlformats.org/drawingml/2006/main"/>
        </p:blipFill>
        <p:spPr>
          <a:xfrm xmlns:a="http://schemas.openxmlformats.org/drawingml/2006/main">
            <a:off x="3007309" y="1428750"/>
            <a:ext cx="6177383" cy="3476625"/>
          </a:xfrm>
          <a:prstGeom xmlns:a="http://schemas.openxmlformats.org/drawingml/2006/main" prst="rect">
            <a:avLst/>
          </a:prstGeom>
        </p:spPr>
      </p:pic>
      <p:sp>
        <p:nvSpPr>
          <p:cNvPr id="4" name="STM32 센서">
            <a:extLst xmlns:a="http://schemas.openxmlformats.org/drawingml/2006/main">
              <a:ext uri="{FF2B5EF4-FFF2-40B4-BE49-F238E27FC236}">
                <a16:creationId xmlns:a16="http://schemas.microsoft.com/office/drawing/2014/main" id="{CAE75E77-A72E-4FF1-ABCF-691E3804EEAB}"/>
              </a:ext>
            </a:extLst>
          </p:cNvPr>
          <p:cNvSpPr>
            <a:spLocks xmlns:a="http://schemas.openxmlformats.org/drawingml/2006/main" noGrp="1"/>
          </p:cNvSpPr>
          <p:nvPr/>
        </p:nvSpPr>
        <p:spPr>
          <a:xfrm xmlns:a="http://schemas.openxmlformats.org/drawingml/2006/main">
            <a:off x="3143250" y="491490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087E82"/>
                </a:solidFill>
                <a:latin typeface="Malgun Gothic"/>
                <a:ea typeface="Malgun Gothic"/>
                <a:cs typeface="Malgun Gothic"/>
              </a:defRPr>
            </a:defPPr>
          </a:lstStyle>
          <a:p xmlns:a="http://schemas.openxmlformats.org/drawingml/2006/main">
            <a:pPr>
              <a:defRPr sz="1950" b="1">
                <a:solidFill>
                  <a:srgbClr val="087E82"/>
                </a:solidFill>
                <a:latin typeface="Malgun Gothic"/>
                <a:ea typeface="Malgun Gothic"/>
                <a:cs typeface="Malgun Gothic"/>
              </a:defRPr>
            </a:pPr>
            <a:r>
              <a:rPr sz="1950" b="1">
                <a:solidFill>
                  <a:srgbClr val="087E82"/>
                </a:solidFill>
                <a:latin typeface="Malgun Gothic"/>
                <a:ea typeface="Malgun Gothic"/>
                <a:cs typeface="Malgun Gothic"/>
              </a:rPr>
              <a:t>STM32 센서</a:t>
            </a:r>
          </a:p>
        </p:txBody>
      </p:sp>
      <p:sp>
        <p:nvSpPr>
          <p:cNvPr id="5" name="중계 서버">
            <a:extLst xmlns:a="http://schemas.openxmlformats.org/drawingml/2006/main">
              <a:ext uri="{FF2B5EF4-FFF2-40B4-BE49-F238E27FC236}">
                <a16:creationId xmlns:a16="http://schemas.microsoft.com/office/drawing/2014/main" id="{E715959F-A0F2-401A-AD3E-667326E8399A}"/>
              </a:ext>
            </a:extLst>
          </p:cNvPr>
          <p:cNvSpPr>
            <a:spLocks xmlns:a="http://schemas.openxmlformats.org/drawingml/2006/main" noGrp="1"/>
          </p:cNvSpPr>
          <p:nvPr/>
        </p:nvSpPr>
        <p:spPr>
          <a:xfrm xmlns:a="http://schemas.openxmlformats.org/drawingml/2006/main">
            <a:off x="5791200" y="491490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D57628"/>
                </a:solidFill>
                <a:latin typeface="Malgun Gothic"/>
                <a:ea typeface="Malgun Gothic"/>
                <a:cs typeface="Malgun Gothic"/>
              </a:defRPr>
            </a:defPPr>
          </a:lstStyle>
          <a:p xmlns:a="http://schemas.openxmlformats.org/drawingml/2006/main">
            <a:pPr>
              <a:defRPr sz="1950" b="1">
                <a:solidFill>
                  <a:srgbClr val="D57628"/>
                </a:solidFill>
                <a:latin typeface="Malgun Gothic"/>
                <a:ea typeface="Malgun Gothic"/>
                <a:cs typeface="Malgun Gothic"/>
              </a:defRPr>
            </a:pPr>
            <a:r>
              <a:rPr sz="1950" b="1">
                <a:solidFill>
                  <a:srgbClr val="D57628"/>
                </a:solidFill>
                <a:latin typeface="Malgun Gothic"/>
                <a:ea typeface="Malgun Gothic"/>
                <a:cs typeface="Malgun Gothic"/>
              </a:rPr>
              <a:t>중계 서버</a:t>
            </a:r>
          </a:p>
        </p:txBody>
      </p:sp>
      <p:sp>
        <p:nvSpPr>
          <p:cNvPr id="6" name="관제 클라이언트">
            <a:extLst xmlns:a="http://schemas.openxmlformats.org/drawingml/2006/main">
              <a:ext uri="{FF2B5EF4-FFF2-40B4-BE49-F238E27FC236}">
                <a16:creationId xmlns:a16="http://schemas.microsoft.com/office/drawing/2014/main" id="{31336BB2-2113-48AC-A4FD-6350681262A0}"/>
              </a:ext>
            </a:extLst>
          </p:cNvPr>
          <p:cNvSpPr>
            <a:spLocks xmlns:a="http://schemas.openxmlformats.org/drawingml/2006/main" noGrp="1"/>
          </p:cNvSpPr>
          <p:nvPr/>
        </p:nvSpPr>
        <p:spPr>
          <a:xfrm xmlns:a="http://schemas.openxmlformats.org/drawingml/2006/main">
            <a:off x="7934325" y="49149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52C3D"/>
                </a:solidFill>
                <a:latin typeface="Malgun Gothic"/>
                <a:ea typeface="Malgun Gothic"/>
                <a:cs typeface="Malgun Gothic"/>
              </a:defRPr>
            </a:defPPr>
          </a:lstStyle>
          <a:p xmlns:a="http://schemas.openxmlformats.org/drawingml/2006/main">
            <a:pPr>
              <a:defRPr sz="1950" b="1">
                <a:solidFill>
                  <a:srgbClr val="152C3D"/>
                </a:solidFill>
                <a:latin typeface="Malgun Gothic"/>
                <a:ea typeface="Malgun Gothic"/>
                <a:cs typeface="Malgun Gothic"/>
              </a:defRPr>
            </a:pPr>
            <a:r>
              <a:rPr sz="1950" b="1">
                <a:solidFill>
                  <a:srgbClr val="152C3D"/>
                </a:solidFill>
                <a:latin typeface="Malgun Gothic"/>
                <a:ea typeface="Malgun Gothic"/>
                <a:cs typeface="Malgun Gothic"/>
              </a:rPr>
              <a:t>관제 클라이언트</a:t>
            </a:r>
          </a:p>
        </p:txBody>
      </p:sp>
      <p:sp>
        <p:nvSpPr>
          <p:cNvPr id="7" name="빠른 주기 전송으로 통신·중계 처리 부하 증가">
            <a:extLst xmlns:a="http://schemas.openxmlformats.org/drawingml/2006/main">
              <a:ext uri="{FF2B5EF4-FFF2-40B4-BE49-F238E27FC236}">
                <a16:creationId xmlns:a16="http://schemas.microsoft.com/office/drawing/2014/main" id="{DA3EAD9D-BFC5-4E9B-A01C-09183D3D9A01}"/>
              </a:ext>
            </a:extLst>
          </p:cNvPr>
          <p:cNvSpPr>
            <a:spLocks xmlns:a="http://schemas.openxmlformats.org/drawingml/2006/main" noGrp="1"/>
          </p:cNvSpPr>
          <p:nvPr/>
        </p:nvSpPr>
        <p:spPr>
          <a:xfrm xmlns:a="http://schemas.openxmlformats.org/drawingml/2006/main">
            <a:off x="609600" y="54768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52C3D"/>
                </a:solidFill>
                <a:latin typeface="Malgun Gothic"/>
                <a:ea typeface="Malgun Gothic"/>
                <a:cs typeface="Malgun Gothic"/>
              </a:defRPr>
            </a:defPPr>
          </a:lstStyle>
          <a:p xmlns:a="http://schemas.openxmlformats.org/drawingml/2006/main">
            <a:pPr>
              <a:defRPr sz="2250" b="1">
                <a:solidFill>
                  <a:srgbClr val="152C3D"/>
                </a:solidFill>
                <a:latin typeface="Malgun Gothic"/>
                <a:ea typeface="Malgun Gothic"/>
                <a:cs typeface="Malgun Gothic"/>
              </a:defRPr>
            </a:pPr>
            <a:r>
              <a:rPr sz="2250" b="1">
                <a:solidFill>
                  <a:srgbClr val="152C3D"/>
                </a:solidFill>
                <a:latin typeface="Malgun Gothic"/>
                <a:ea typeface="Malgun Gothic"/>
                <a:cs typeface="Malgun Gothic"/>
              </a:rPr>
              <a:t>빠른 주기 전송으로 통신·중계 처리 부하 증가</a:t>
            </a:r>
          </a:p>
        </p:txBody>
      </p:sp>
      <p:sp>
        <p:nvSpPr>
          <p:cNvPr id="8" name="개발 경험에 따른 문제 상황. 서버 부하의 크기는 추가 측">
            <a:extLst xmlns:a="http://schemas.openxmlformats.org/drawingml/2006/main">
              <a:ext uri="{FF2B5EF4-FFF2-40B4-BE49-F238E27FC236}">
                <a16:creationId xmlns:a16="http://schemas.microsoft.com/office/drawing/2014/main" id="{1D97CEBE-94FB-4B2B-B201-3AE5F79F7674}"/>
              </a:ext>
            </a:extLst>
          </p:cNvPr>
          <p:cNvSpPr>
            <a:spLocks xmlns:a="http://schemas.openxmlformats.org/drawingml/2006/main" noGrp="1"/>
          </p:cNvSpPr>
          <p:nvPr/>
        </p:nvSpPr>
        <p:spPr>
          <a:xfrm xmlns:a="http://schemas.openxmlformats.org/drawingml/2006/main">
            <a:off x="609600" y="61150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773"/>
                </a:solidFill>
                <a:latin typeface="Malgun Gothic"/>
                <a:ea typeface="Malgun Gothic"/>
                <a:cs typeface="Malgun Gothic"/>
              </a:defRPr>
            </a:defPPr>
          </a:lstStyle>
          <a:p xmlns:a="http://schemas.openxmlformats.org/drawingml/2006/main">
            <a:pPr>
              <a:defRPr sz="1500" b="0">
                <a:solidFill>
                  <a:srgbClr val="526773"/>
                </a:solidFill>
                <a:latin typeface="Malgun Gothic"/>
                <a:ea typeface="Malgun Gothic"/>
                <a:cs typeface="Malgun Gothic"/>
              </a:defRPr>
            </a:pPr>
            <a:r>
              <a:rPr sz="1500" b="0">
                <a:solidFill>
                  <a:srgbClr val="526773"/>
                </a:solidFill>
                <a:latin typeface="Malgun Gothic"/>
                <a:ea typeface="Malgun Gothic"/>
                <a:cs typeface="Malgun Gothic"/>
              </a:rPr>
              <a:t>개발 경험에 따른 문제 상황. 서버 부하의 크기는 추가 측정 필요</a:t>
            </a:r>
          </a:p>
        </p:txBody>
      </p:sp>
    </p:spTree>
    <p:extLst>
      <p:ext uri="{BB962C8B-B14F-4D97-AF65-F5344CB8AC3E}">
        <p14:creationId xmlns:p14="http://schemas.microsoft.com/office/powerpoint/2010/main" val="953044138"/>
      </p:ext>
    </p:extLst>
  </p:cSld>
</p:sld>
</file>

<file path=ppt/slides/slide2.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첫 번째 대응: 1초 주기로 읽고 전송">
            <a:extLst xmlns:a="http://schemas.openxmlformats.org/drawingml/2006/main">
              <a:ext uri="{FF2B5EF4-FFF2-40B4-BE49-F238E27FC236}">
                <a16:creationId xmlns:a16="http://schemas.microsoft.com/office/drawing/2014/main" id="{F83E294D-8520-4870-9012-43F028160C17}"/>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첫 번째 대응: 1초 주기로 읽고 전송</a:t>
            </a:r>
          </a:p>
        </p:txBody>
      </p:sp>
      <p:sp>
        <p:nvSpPr>
          <p:cNvPr id="2" name="02">
            <a:extLst xmlns:a="http://schemas.openxmlformats.org/drawingml/2006/main">
              <a:ext uri="{FF2B5EF4-FFF2-40B4-BE49-F238E27FC236}">
                <a16:creationId xmlns:a16="http://schemas.microsoft.com/office/drawing/2014/main" id="{C2AB82FB-98E4-4FFA-9BB6-BA579CA00569}"/>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02</a:t>
            </a:r>
          </a:p>
        </p:txBody>
      </p:sp>
      <p:sp>
        <p:nvSpPr>
          <p:cNvPr id="3" name="1초">
            <a:extLst xmlns:a="http://schemas.openxmlformats.org/drawingml/2006/main">
              <a:ext uri="{FF2B5EF4-FFF2-40B4-BE49-F238E27FC236}">
                <a16:creationId xmlns:a16="http://schemas.microsoft.com/office/drawing/2014/main" id="{1F63CD13-0FFF-46AF-B6B5-2A60C2E59A45}"/>
              </a:ext>
            </a:extLst>
          </p:cNvPr>
          <p:cNvSpPr>
            <a:spLocks xmlns:a="http://schemas.openxmlformats.org/drawingml/2006/main" noGrp="1"/>
          </p:cNvSpPr>
          <p:nvPr/>
        </p:nvSpPr>
        <p:spPr>
          <a:xfrm xmlns:a="http://schemas.openxmlformats.org/drawingml/2006/main">
            <a:off x="666750" y="1733550"/>
            <a:ext cx="34290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500" b="1">
                <a:solidFill>
                  <a:srgbClr val="087E82"/>
                </a:solidFill>
                <a:latin typeface="Malgun Gothic"/>
                <a:ea typeface="Malgun Gothic"/>
                <a:cs typeface="Malgun Gothic"/>
              </a:defRPr>
            </a:defPPr>
          </a:lstStyle>
          <a:p xmlns:a="http://schemas.openxmlformats.org/drawingml/2006/main">
            <a:pPr>
              <a:defRPr sz="7500" b="1">
                <a:solidFill>
                  <a:srgbClr val="087E82"/>
                </a:solidFill>
                <a:latin typeface="Malgun Gothic"/>
                <a:ea typeface="Malgun Gothic"/>
                <a:cs typeface="Malgun Gothic"/>
              </a:defRPr>
            </a:pPr>
            <a:r>
              <a:rPr sz="7500" b="1">
                <a:solidFill>
                  <a:srgbClr val="087E82"/>
                </a:solidFill>
                <a:latin typeface="Malgun Gothic"/>
                <a:ea typeface="Malgun Gothic"/>
                <a:cs typeface="Malgun Gothic"/>
              </a:rPr>
              <a:t>1초</a:t>
            </a:r>
          </a:p>
        </p:txBody>
      </p:sp>
      <p:sp>
        <p:nvSpPr>
          <p:cNvPr id="4" name="마다 센서값 한 번 읽기">
            <a:extLst xmlns:a="http://schemas.openxmlformats.org/drawingml/2006/main">
              <a:ext uri="{FF2B5EF4-FFF2-40B4-BE49-F238E27FC236}">
                <a16:creationId xmlns:a16="http://schemas.microsoft.com/office/drawing/2014/main" id="{6DDE8CED-0EEF-4DEE-AA5B-A6C82DD234C4}"/>
              </a:ext>
            </a:extLst>
          </p:cNvPr>
          <p:cNvSpPr>
            <a:spLocks xmlns:a="http://schemas.openxmlformats.org/drawingml/2006/main" noGrp="1"/>
          </p:cNvSpPr>
          <p:nvPr/>
        </p:nvSpPr>
        <p:spPr>
          <a:xfrm xmlns:a="http://schemas.openxmlformats.org/drawingml/2006/main">
            <a:off x="723900" y="3076575"/>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52C3D"/>
                </a:solidFill>
                <a:latin typeface="Malgun Gothic"/>
                <a:ea typeface="Malgun Gothic"/>
                <a:cs typeface="Malgun Gothic"/>
              </a:defRPr>
            </a:defPPr>
          </a:lstStyle>
          <a:p xmlns:a="http://schemas.openxmlformats.org/drawingml/2006/main">
            <a:pPr>
              <a:defRPr sz="2400" b="1">
                <a:solidFill>
                  <a:srgbClr val="152C3D"/>
                </a:solidFill>
                <a:latin typeface="Malgun Gothic"/>
                <a:ea typeface="Malgun Gothic"/>
                <a:cs typeface="Malgun Gothic"/>
              </a:defRPr>
            </a:pPr>
            <a:r>
              <a:rPr sz="2400" b="1">
                <a:solidFill>
                  <a:srgbClr val="152C3D"/>
                </a:solidFill>
                <a:latin typeface="Malgun Gothic"/>
                <a:ea typeface="Malgun Gothic"/>
                <a:cs typeface="Malgun Gothic"/>
              </a:rPr>
              <a:t>마다 센서값 한 번 읽기</a:t>
            </a:r>
          </a:p>
        </p:txBody>
      </p:sp>
      <p:sp>
        <p:nvSpPr>
          <p:cNvPr id="5" name="읽은 순간값만 관제로 전달">
            <a:extLst xmlns:a="http://schemas.openxmlformats.org/drawingml/2006/main">
              <a:ext uri="{FF2B5EF4-FFF2-40B4-BE49-F238E27FC236}">
                <a16:creationId xmlns:a16="http://schemas.microsoft.com/office/drawing/2014/main" id="{F4995157-CFDC-402D-BC02-0BF36154B460}"/>
              </a:ext>
            </a:extLst>
          </p:cNvPr>
          <p:cNvSpPr>
            <a:spLocks xmlns:a="http://schemas.openxmlformats.org/drawingml/2006/main" noGrp="1"/>
          </p:cNvSpPr>
          <p:nvPr/>
        </p:nvSpPr>
        <p:spPr>
          <a:xfrm xmlns:a="http://schemas.openxmlformats.org/drawingml/2006/main">
            <a:off x="723900" y="3810000"/>
            <a:ext cx="4333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26773"/>
                </a:solidFill>
                <a:latin typeface="Malgun Gothic"/>
                <a:ea typeface="Malgun Gothic"/>
                <a:cs typeface="Malgun Gothic"/>
              </a:defRPr>
            </a:defPPr>
          </a:lstStyle>
          <a:p xmlns:a="http://schemas.openxmlformats.org/drawingml/2006/main">
            <a:pPr>
              <a:defRPr sz="2100" b="0">
                <a:solidFill>
                  <a:srgbClr val="526773"/>
                </a:solidFill>
                <a:latin typeface="Malgun Gothic"/>
                <a:ea typeface="Malgun Gothic"/>
                <a:cs typeface="Malgun Gothic"/>
              </a:defRPr>
            </a:pPr>
            <a:r>
              <a:rPr sz="2100" b="0">
                <a:solidFill>
                  <a:srgbClr val="526773"/>
                </a:solidFill>
                <a:latin typeface="Malgun Gothic"/>
                <a:ea typeface="Malgun Gothic"/>
                <a:cs typeface="Malgun Gothic"/>
              </a:rPr>
              <a:t>읽은 순간값만 관제로 전달</a:t>
            </a:r>
          </a:p>
        </p:txBody>
      </p:sp>
      <p:pic>
        <p:nvPicPr>
          <p:cNvPr id="6" name="">
            <a:extLst xmlns:a="http://schemas.openxmlformats.org/drawingml/2006/main">
              <a:ext uri="{FF2B5EF4-FFF2-40B4-BE49-F238E27FC236}">
                <a16:creationId xmlns:a16="http://schemas.microsoft.com/office/drawing/2014/main" id="{1CDC1C73-02D9-4591-957D-69C6BA53551B}"/>
              </a:ext>
            </a:extLst>
          </p:cNvPr>
          <p:cNvPicPr>
            <a:picLocks xmlns:a="http://schemas.openxmlformats.org/drawingml/2006/main" noChangeAspect="1"/>
          </p:cNvPicPr>
          <p:nvPr/>
        </p:nvPicPr>
        <p:blipFill>
          <a:blip xmlns:r="http://schemas.openxmlformats.org/officeDocument/2006/relationships" xmlns:a="http://schemas.openxmlformats.org/drawingml/2006/main" r:embed="R6652778c8f0642c7"/>
          <a:stretch xmlns:a="http://schemas.openxmlformats.org/drawingml/2006/main"/>
        </p:blipFill>
        <p:spPr>
          <a:xfrm xmlns:a="http://schemas.openxmlformats.org/drawingml/2006/main">
            <a:off x="5203373" y="1619250"/>
            <a:ext cx="6262004" cy="3524250"/>
          </a:xfrm>
          <a:prstGeom xmlns:a="http://schemas.openxmlformats.org/drawingml/2006/main" prst="rect">
            <a:avLst/>
          </a:prstGeom>
        </p:spPr>
      </p:pic>
      <p:sp>
        <p:nvSpPr>
          <p:cNvPr id="7" name="전송 횟수는 줄었지만, 중간의 변화는 기록하지 않음">
            <a:extLst xmlns:a="http://schemas.openxmlformats.org/drawingml/2006/main">
              <a:ext uri="{FF2B5EF4-FFF2-40B4-BE49-F238E27FC236}">
                <a16:creationId xmlns:a16="http://schemas.microsoft.com/office/drawing/2014/main" id="{42DA10E4-BA22-4D0B-B158-30E4D37F420D}"/>
              </a:ext>
            </a:extLst>
          </p:cNvPr>
          <p:cNvSpPr>
            <a:spLocks xmlns:a="http://schemas.openxmlformats.org/drawingml/2006/main" noGrp="1"/>
          </p:cNvSpPr>
          <p:nvPr/>
        </p:nvSpPr>
        <p:spPr>
          <a:xfrm xmlns:a="http://schemas.openxmlformats.org/drawingml/2006/main">
            <a:off x="609600" y="55054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52C3D"/>
                </a:solidFill>
                <a:latin typeface="Malgun Gothic"/>
                <a:ea typeface="Malgun Gothic"/>
                <a:cs typeface="Malgun Gothic"/>
              </a:defRPr>
            </a:defPPr>
          </a:lstStyle>
          <a:p xmlns:a="http://schemas.openxmlformats.org/drawingml/2006/main">
            <a:pPr>
              <a:defRPr sz="2250" b="1">
                <a:solidFill>
                  <a:srgbClr val="152C3D"/>
                </a:solidFill>
                <a:latin typeface="Malgun Gothic"/>
                <a:ea typeface="Malgun Gothic"/>
                <a:cs typeface="Malgun Gothic"/>
              </a:defRPr>
            </a:pPr>
            <a:r>
              <a:rPr sz="2250" b="1">
                <a:solidFill>
                  <a:srgbClr val="152C3D"/>
                </a:solidFill>
                <a:latin typeface="Malgun Gothic"/>
                <a:ea typeface="Malgun Gothic"/>
                <a:cs typeface="Malgun Gothic"/>
              </a:rPr>
              <a:t>전송 횟수는 줄었지만, 중간의 변화는 기록하지 않음</a:t>
            </a:r>
          </a:p>
        </p:txBody>
      </p:sp>
    </p:spTree>
    <p:extLst>
      <p:ext uri="{BB962C8B-B14F-4D97-AF65-F5344CB8AC3E}">
        <p14:creationId xmlns:p14="http://schemas.microsoft.com/office/powerpoint/2010/main" val="1160082027"/>
      </p:ext>
    </p:extLst>
  </p:cSld>
</p:sld>
</file>

<file path=ppt/slides/slide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1초 사이의 흔들림을 놓치는 경우">
            <a:extLst xmlns:a="http://schemas.openxmlformats.org/drawingml/2006/main">
              <a:ext uri="{FF2B5EF4-FFF2-40B4-BE49-F238E27FC236}">
                <a16:creationId xmlns:a16="http://schemas.microsoft.com/office/drawing/2014/main" id="{6CC41982-94DE-4B45-A183-8DA30A2E08CA}"/>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1초 사이의 흔들림을 놓치는 경우</a:t>
            </a:r>
          </a:p>
        </p:txBody>
      </p:sp>
      <p:sp>
        <p:nvSpPr>
          <p:cNvPr id="2" name="03">
            <a:extLst xmlns:a="http://schemas.openxmlformats.org/drawingml/2006/main">
              <a:ext uri="{FF2B5EF4-FFF2-40B4-BE49-F238E27FC236}">
                <a16:creationId xmlns:a16="http://schemas.microsoft.com/office/drawing/2014/main" id="{FAD1E48D-6FCF-43A4-81DC-A6890AF6848C}"/>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03</a:t>
            </a:r>
          </a:p>
        </p:txBody>
      </p:sp>
      <p:graphicFrame>
        <p:nvGraphicFramePr>
          <p:cNvPr id="3" name="Chart">
            <a:extLst xmlns:a="http://schemas.openxmlformats.org/drawingml/2006/main">
              <a:ext uri="{FF2B5EF4-FFF2-40B4-BE49-F238E27FC236}">
                <a16:creationId xmlns:a16="http://schemas.microsoft.com/office/drawing/2014/main" id="{B10CB72C-4558-42CC-BD09-275E98FCA536}"/>
              </a:ext>
            </a:extLst>
          </p:cNvPr>
          <p:cNvGraphicFramePr/>
          <p:nvPr/>
        </p:nvGraphicFramePr>
        <p:xfrm>
          <a:off xmlns:a="http://schemas.openxmlformats.org/drawingml/2006/main" x="590550" y="1562100"/>
          <a:ext xmlns:a="http://schemas.openxmlformats.org/drawingml/2006/main" cx="7810500" cy="3905250"/>
        </p:xfrm>
        <a:graphic xmlns:a="http://schemas.openxmlformats.org/drawingml/2006/main">
          <a:graphicData uri="http://schemas.openxmlformats.org/drawingml/2006/chart">
            <c:chart xmlns:r="http://schemas.openxmlformats.org/officeDocument/2006/relationships" xmlns:c="http://schemas.openxmlformats.org/drawingml/2006/chart" r:id="Rab40e2d595054f38"/>
          </a:graphicData>
        </a:graphic>
      </p:graphicFrame>
      <p:sp>
        <p:nvSpPr>
          <p:cNvPr id="4" name="실제: 중간에 흔들림">
            <a:extLst xmlns:a="http://schemas.openxmlformats.org/drawingml/2006/main">
              <a:ext uri="{FF2B5EF4-FFF2-40B4-BE49-F238E27FC236}">
                <a16:creationId xmlns:a16="http://schemas.microsoft.com/office/drawing/2014/main" id="{655EB2AD-E655-4E24-8A9C-7BE3E682D991}"/>
              </a:ext>
            </a:extLst>
          </p:cNvPr>
          <p:cNvSpPr>
            <a:spLocks xmlns:a="http://schemas.openxmlformats.org/drawingml/2006/main" noGrp="1"/>
          </p:cNvSpPr>
          <p:nvPr/>
        </p:nvSpPr>
        <p:spPr>
          <a:xfrm xmlns:a="http://schemas.openxmlformats.org/drawingml/2006/main">
            <a:off x="8667750" y="1952625"/>
            <a:ext cx="2905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87E82"/>
                </a:solidFill>
                <a:latin typeface="Malgun Gothic"/>
                <a:ea typeface="Malgun Gothic"/>
                <a:cs typeface="Malgun Gothic"/>
              </a:defRPr>
            </a:defPPr>
          </a:lstStyle>
          <a:p xmlns:a="http://schemas.openxmlformats.org/drawingml/2006/main">
            <a:pPr>
              <a:defRPr sz="2250" b="1">
                <a:solidFill>
                  <a:srgbClr val="087E82"/>
                </a:solidFill>
                <a:latin typeface="Malgun Gothic"/>
                <a:ea typeface="Malgun Gothic"/>
                <a:cs typeface="Malgun Gothic"/>
              </a:defRPr>
            </a:pPr>
            <a:r>
              <a:rPr sz="2250" b="1">
                <a:solidFill>
                  <a:srgbClr val="087E82"/>
                </a:solidFill>
                <a:latin typeface="Malgun Gothic"/>
                <a:ea typeface="Malgun Gothic"/>
                <a:cs typeface="Malgun Gothic"/>
              </a:rPr>
              <a:t>실제: 중간에 흔들림</a:t>
            </a:r>
          </a:p>
        </p:txBody>
      </p:sp>
      <p:sp>
        <p:nvSpPr>
          <p:cNvPr id="5" name="관제: 0과 0만 수신">
            <a:extLst xmlns:a="http://schemas.openxmlformats.org/drawingml/2006/main">
              <a:ext uri="{FF2B5EF4-FFF2-40B4-BE49-F238E27FC236}">
                <a16:creationId xmlns:a16="http://schemas.microsoft.com/office/drawing/2014/main" id="{E8DC01F7-5A9D-42D6-BEF3-D4DA142FA24B}"/>
              </a:ext>
            </a:extLst>
          </p:cNvPr>
          <p:cNvSpPr>
            <a:spLocks xmlns:a="http://schemas.openxmlformats.org/drawingml/2006/main" noGrp="1"/>
          </p:cNvSpPr>
          <p:nvPr/>
        </p:nvSpPr>
        <p:spPr>
          <a:xfrm xmlns:a="http://schemas.openxmlformats.org/drawingml/2006/main">
            <a:off x="8667750" y="3257550"/>
            <a:ext cx="2905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D57628"/>
                </a:solidFill>
                <a:latin typeface="Malgun Gothic"/>
                <a:ea typeface="Malgun Gothic"/>
                <a:cs typeface="Malgun Gothic"/>
              </a:defRPr>
            </a:defPPr>
          </a:lstStyle>
          <a:p xmlns:a="http://schemas.openxmlformats.org/drawingml/2006/main">
            <a:pPr>
              <a:defRPr sz="2250" b="1">
                <a:solidFill>
                  <a:srgbClr val="D57628"/>
                </a:solidFill>
                <a:latin typeface="Malgun Gothic"/>
                <a:ea typeface="Malgun Gothic"/>
                <a:cs typeface="Malgun Gothic"/>
              </a:defRPr>
            </a:pPr>
            <a:r>
              <a:rPr sz="2250" b="1">
                <a:solidFill>
                  <a:srgbClr val="D57628"/>
                </a:solidFill>
                <a:latin typeface="Malgun Gothic"/>
                <a:ea typeface="Malgun Gothic"/>
                <a:cs typeface="Malgun Gothic"/>
              </a:rPr>
              <a:t>관제: 0과 0만 수신</a:t>
            </a:r>
          </a:p>
        </p:txBody>
      </p:sp>
      <p:sp>
        <p:nvSpPr>
          <p:cNvPr id="6" name="취득하지 않은 변화는 서버에서 복원할 수 없음">
            <a:extLst xmlns:a="http://schemas.openxmlformats.org/drawingml/2006/main">
              <a:ext uri="{FF2B5EF4-FFF2-40B4-BE49-F238E27FC236}">
                <a16:creationId xmlns:a16="http://schemas.microsoft.com/office/drawing/2014/main" id="{97F67EB0-0BE0-4B4C-BBA9-75B32DC901BF}"/>
              </a:ext>
            </a:extLst>
          </p:cNvPr>
          <p:cNvSpPr>
            <a:spLocks xmlns:a="http://schemas.openxmlformats.org/drawingml/2006/main" noGrp="1"/>
          </p:cNvSpPr>
          <p:nvPr/>
        </p:nvSpPr>
        <p:spPr>
          <a:xfrm xmlns:a="http://schemas.openxmlformats.org/drawingml/2006/main">
            <a:off x="609600" y="5638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52C3D"/>
                </a:solidFill>
                <a:latin typeface="Malgun Gothic"/>
                <a:ea typeface="Malgun Gothic"/>
                <a:cs typeface="Malgun Gothic"/>
              </a:defRPr>
            </a:defPPr>
          </a:lstStyle>
          <a:p xmlns:a="http://schemas.openxmlformats.org/drawingml/2006/main">
            <a:pPr>
              <a:defRPr sz="2250" b="1">
                <a:solidFill>
                  <a:srgbClr val="152C3D"/>
                </a:solidFill>
                <a:latin typeface="Malgun Gothic"/>
                <a:ea typeface="Malgun Gothic"/>
                <a:cs typeface="Malgun Gothic"/>
              </a:defRPr>
            </a:pPr>
            <a:r>
              <a:rPr sz="2250" b="1">
                <a:solidFill>
                  <a:srgbClr val="152C3D"/>
                </a:solidFill>
                <a:latin typeface="Malgun Gothic"/>
                <a:ea typeface="Malgun Gothic"/>
                <a:cs typeface="Malgun Gothic"/>
              </a:rPr>
              <a:t>취득하지 않은 변화는 서버에서 복원할 수 없음</a:t>
            </a:r>
          </a:p>
        </p:txBody>
      </p:sp>
      <p:sp>
        <p:nvSpPr>
          <p:cNvPr id="7" name="설명용 가상 데이터. 특정 시점의 샘플만 보면 변화가 작게">
            <a:extLst xmlns:a="http://schemas.openxmlformats.org/drawingml/2006/main">
              <a:ext uri="{FF2B5EF4-FFF2-40B4-BE49-F238E27FC236}">
                <a16:creationId xmlns:a16="http://schemas.microsoft.com/office/drawing/2014/main" id="{A0E6BFF0-DBD7-489C-9BA6-050CD2D5A05D}"/>
              </a:ext>
            </a:extLst>
          </p:cNvPr>
          <p:cNvSpPr>
            <a:spLocks xmlns:a="http://schemas.openxmlformats.org/drawingml/2006/main" noGrp="1"/>
          </p:cNvSpPr>
          <p:nvPr/>
        </p:nvSpPr>
        <p:spPr>
          <a:xfrm xmlns:a="http://schemas.openxmlformats.org/drawingml/2006/main">
            <a:off x="609600" y="62103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773"/>
                </a:solidFill>
                <a:latin typeface="Malgun Gothic"/>
                <a:ea typeface="Malgun Gothic"/>
                <a:cs typeface="Malgun Gothic"/>
              </a:defRPr>
            </a:defPPr>
          </a:lstStyle>
          <a:p xmlns:a="http://schemas.openxmlformats.org/drawingml/2006/main">
            <a:pPr>
              <a:defRPr sz="1500" b="0">
                <a:solidFill>
                  <a:srgbClr val="526773"/>
                </a:solidFill>
                <a:latin typeface="Malgun Gothic"/>
                <a:ea typeface="Malgun Gothic"/>
                <a:cs typeface="Malgun Gothic"/>
              </a:defRPr>
            </a:pPr>
            <a:r>
              <a:rPr sz="1500" b="0">
                <a:solidFill>
                  <a:srgbClr val="526773"/>
                </a:solidFill>
                <a:latin typeface="Malgun Gothic"/>
                <a:ea typeface="Malgun Gothic"/>
                <a:cs typeface="Malgun Gothic"/>
              </a:rPr>
              <a:t>설명용 가상 데이터. 특정 시점의 샘플만 보면 변화가 작게 보일 수 있음</a:t>
            </a:r>
          </a:p>
        </p:txBody>
      </p:sp>
    </p:spTree>
    <p:extLst>
      <p:ext uri="{BB962C8B-B14F-4D97-AF65-F5344CB8AC3E}">
        <p14:creationId xmlns:p14="http://schemas.microsoft.com/office/powerpoint/2010/main" val="779130790"/>
      </p:ext>
    </p:extLst>
  </p:cSld>
</p:sld>
</file>

<file path=ppt/slides/slide4.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7" name="개선안: STM32 내부 계산과 이벤트 전송">
            <a:extLst xmlns:a="http://schemas.openxmlformats.org/drawingml/2006/main">
              <a:ext uri="{FF2B5EF4-FFF2-40B4-BE49-F238E27FC236}">
                <a16:creationId xmlns:a16="http://schemas.microsoft.com/office/drawing/2014/main" id="{6CD10850-1269-45FA-8264-8887384A57EA}"/>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개선안: STM32 내부 계산과 이벤트 전송</a:t>
            </a:r>
          </a:p>
        </p:txBody>
      </p:sp>
      <p:sp>
        <p:nvSpPr>
          <p:cNvPr id="2" name="04">
            <a:extLst xmlns:a="http://schemas.openxmlformats.org/drawingml/2006/main">
              <a:ext uri="{FF2B5EF4-FFF2-40B4-BE49-F238E27FC236}">
                <a16:creationId xmlns:a16="http://schemas.microsoft.com/office/drawing/2014/main" id="{6C634305-CFD5-435E-8465-95A73DA42212}"/>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04</a:t>
            </a:r>
          </a:p>
        </p:txBody>
      </p:sp>
      <p:pic>
        <p:nvPicPr>
          <p:cNvPr id="3" name="">
            <a:extLst xmlns:a="http://schemas.openxmlformats.org/drawingml/2006/main">
              <a:ext uri="{FF2B5EF4-FFF2-40B4-BE49-F238E27FC236}">
                <a16:creationId xmlns:a16="http://schemas.microsoft.com/office/drawing/2014/main" id="{40C5AE89-805A-4341-854B-AFA112CFAECB}"/>
              </a:ext>
            </a:extLst>
          </p:cNvPr>
          <p:cNvPicPr>
            <a:picLocks xmlns:a="http://schemas.openxmlformats.org/drawingml/2006/main" noChangeAspect="1"/>
          </p:cNvPicPr>
          <p:nvPr/>
        </p:nvPicPr>
        <p:blipFill>
          <a:blip xmlns:r="http://schemas.openxmlformats.org/officeDocument/2006/relationships" xmlns:a="http://schemas.openxmlformats.org/drawingml/2006/main" r:embed="R3979a6b1729b4168"/>
          <a:stretch xmlns:a="http://schemas.openxmlformats.org/drawingml/2006/main"/>
        </p:blipFill>
        <p:spPr>
          <a:xfrm xmlns:a="http://schemas.openxmlformats.org/drawingml/2006/main">
            <a:off x="3082405" y="1562100"/>
            <a:ext cx="6008139" cy="3381375"/>
          </a:xfrm>
          <a:prstGeom xmlns:a="http://schemas.openxmlformats.org/drawingml/2006/main" prst="rect">
            <a:avLst/>
          </a:prstGeom>
        </p:spPr>
      </p:pic>
      <p:sp>
        <p:nvSpPr>
          <p:cNvPr id="4" name="보드에서 빠른 취득·구간 계산">
            <a:extLst xmlns:a="http://schemas.openxmlformats.org/drawingml/2006/main">
              <a:ext uri="{FF2B5EF4-FFF2-40B4-BE49-F238E27FC236}">
                <a16:creationId xmlns:a16="http://schemas.microsoft.com/office/drawing/2014/main" id="{D7B70FD8-064C-4EC2-9D4C-EA35C6A05511}"/>
              </a:ext>
            </a:extLst>
          </p:cNvPr>
          <p:cNvSpPr>
            <a:spLocks xmlns:a="http://schemas.openxmlformats.org/drawingml/2006/main" noGrp="1"/>
          </p:cNvSpPr>
          <p:nvPr/>
        </p:nvSpPr>
        <p:spPr>
          <a:xfrm xmlns:a="http://schemas.openxmlformats.org/drawingml/2006/main">
            <a:off x="609600" y="5124450"/>
            <a:ext cx="571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87E82"/>
                </a:solidFill>
                <a:latin typeface="Malgun Gothic"/>
                <a:ea typeface="Malgun Gothic"/>
                <a:cs typeface="Malgun Gothic"/>
              </a:defRPr>
            </a:defPPr>
          </a:lstStyle>
          <a:p xmlns:a="http://schemas.openxmlformats.org/drawingml/2006/main">
            <a:pPr>
              <a:defRPr sz="2250" b="1">
                <a:solidFill>
                  <a:srgbClr val="087E82"/>
                </a:solidFill>
                <a:latin typeface="Malgun Gothic"/>
                <a:ea typeface="Malgun Gothic"/>
                <a:cs typeface="Malgun Gothic"/>
              </a:defRPr>
            </a:pPr>
            <a:r>
              <a:rPr sz="2250" b="1">
                <a:solidFill>
                  <a:srgbClr val="087E82"/>
                </a:solidFill>
                <a:latin typeface="Malgun Gothic"/>
                <a:ea typeface="Malgun Gothic"/>
                <a:cs typeface="Malgun Gothic"/>
              </a:rPr>
              <a:t>보드에서 빠른 취득·구간 계산</a:t>
            </a:r>
          </a:p>
        </p:txBody>
      </p:sp>
      <p:sp>
        <p:nvSpPr>
          <p:cNvPr id="5" name="이상 발생·변화·회복 시 전송">
            <a:extLst xmlns:a="http://schemas.openxmlformats.org/drawingml/2006/main">
              <a:ext uri="{FF2B5EF4-FFF2-40B4-BE49-F238E27FC236}">
                <a16:creationId xmlns:a16="http://schemas.microsoft.com/office/drawing/2014/main" id="{502ACAD2-293B-4CEA-9805-CFB43065EBE8}"/>
              </a:ext>
            </a:extLst>
          </p:cNvPr>
          <p:cNvSpPr>
            <a:spLocks xmlns:a="http://schemas.openxmlformats.org/drawingml/2006/main" noGrp="1"/>
          </p:cNvSpPr>
          <p:nvPr/>
        </p:nvSpPr>
        <p:spPr>
          <a:xfrm xmlns:a="http://schemas.openxmlformats.org/drawingml/2006/main">
            <a:off x="6419850" y="5124450"/>
            <a:ext cx="514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D57628"/>
                </a:solidFill>
                <a:latin typeface="Malgun Gothic"/>
                <a:ea typeface="Malgun Gothic"/>
                <a:cs typeface="Malgun Gothic"/>
              </a:defRPr>
            </a:defPPr>
          </a:lstStyle>
          <a:p xmlns:a="http://schemas.openxmlformats.org/drawingml/2006/main">
            <a:pPr>
              <a:defRPr sz="2250" b="1">
                <a:solidFill>
                  <a:srgbClr val="D57628"/>
                </a:solidFill>
                <a:latin typeface="Malgun Gothic"/>
                <a:ea typeface="Malgun Gothic"/>
                <a:cs typeface="Malgun Gothic"/>
              </a:defRPr>
            </a:pPr>
            <a:r>
              <a:rPr sz="2250" b="1">
                <a:solidFill>
                  <a:srgbClr val="D57628"/>
                </a:solidFill>
                <a:latin typeface="Malgun Gothic"/>
                <a:ea typeface="Malgun Gothic"/>
                <a:cs typeface="Malgun Gothic"/>
              </a:rPr>
              <a:t>이상 발생·변화·회복 시 전송</a:t>
            </a:r>
          </a:p>
        </p:txBody>
      </p:sp>
      <p:sp>
        <p:nvSpPr>
          <p:cNvPr id="6" name="정상 때 생존 신호 유지. 관제는 영상과 결합해 최종 판정">
            <a:extLst xmlns:a="http://schemas.openxmlformats.org/drawingml/2006/main">
              <a:ext uri="{FF2B5EF4-FFF2-40B4-BE49-F238E27FC236}">
                <a16:creationId xmlns:a16="http://schemas.microsoft.com/office/drawing/2014/main" id="{18C920EB-DD66-489B-84A4-6CE42EFEC6E2}"/>
              </a:ext>
            </a:extLst>
          </p:cNvPr>
          <p:cNvSpPr>
            <a:spLocks xmlns:a="http://schemas.openxmlformats.org/drawingml/2006/main" noGrp="1"/>
          </p:cNvSpPr>
          <p:nvPr/>
        </p:nvSpPr>
        <p:spPr>
          <a:xfrm xmlns:a="http://schemas.openxmlformats.org/drawingml/2006/main">
            <a:off x="609600" y="59245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773"/>
                </a:solidFill>
                <a:latin typeface="Malgun Gothic"/>
                <a:ea typeface="Malgun Gothic"/>
                <a:cs typeface="Malgun Gothic"/>
              </a:defRPr>
            </a:defPPr>
          </a:lstStyle>
          <a:p xmlns:a="http://schemas.openxmlformats.org/drawingml/2006/main">
            <a:pPr>
              <a:defRPr sz="1875" b="0">
                <a:solidFill>
                  <a:srgbClr val="526773"/>
                </a:solidFill>
                <a:latin typeface="Malgun Gothic"/>
                <a:ea typeface="Malgun Gothic"/>
                <a:cs typeface="Malgun Gothic"/>
              </a:defRPr>
            </a:pPr>
            <a:r>
              <a:rPr sz="1875" b="0">
                <a:solidFill>
                  <a:srgbClr val="526773"/>
                </a:solidFill>
                <a:latin typeface="Malgun Gothic"/>
                <a:ea typeface="Malgun Gothic"/>
                <a:cs typeface="Malgun Gothic"/>
              </a:rPr>
              <a:t>정상 때 생존 신호 유지. 관제는 영상과 결합해 최종 판정</a:t>
            </a:r>
          </a:p>
        </p:txBody>
      </p:sp>
    </p:spTree>
    <p:extLst>
      <p:ext uri="{BB962C8B-B14F-4D97-AF65-F5344CB8AC3E}">
        <p14:creationId xmlns:p14="http://schemas.microsoft.com/office/powerpoint/2010/main" val="654440856"/>
      </p:ext>
    </p:extLst>
  </p:cSld>
</p:sld>
</file>

<file path=ppt/slides/slide5.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0" name="구간: 최근 여러 센서값을 모아 보는 범위">
            <a:extLst xmlns:a="http://schemas.openxmlformats.org/drawingml/2006/main">
              <a:ext uri="{FF2B5EF4-FFF2-40B4-BE49-F238E27FC236}">
                <a16:creationId xmlns:a16="http://schemas.microsoft.com/office/drawing/2014/main" id="{77036B6B-504B-4538-B6ED-4E933D8E649B}"/>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구간: 최근 여러 센서값을 모아 보는 범위</a:t>
            </a:r>
          </a:p>
        </p:txBody>
      </p:sp>
      <p:sp>
        <p:nvSpPr>
          <p:cNvPr id="2" name="05">
            <a:extLst xmlns:a="http://schemas.openxmlformats.org/drawingml/2006/main">
              <a:ext uri="{FF2B5EF4-FFF2-40B4-BE49-F238E27FC236}">
                <a16:creationId xmlns:a16="http://schemas.microsoft.com/office/drawing/2014/main" id="{D0DFB9DE-7AE3-4FDD-93F9-3BB59A2B7098}"/>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05</a:t>
            </a:r>
          </a:p>
        </p:txBody>
      </p:sp>
      <p:sp>
        <p:nvSpPr>
          <p:cNvPr id="3" name="10 ms">
            <a:extLst xmlns:a="http://schemas.openxmlformats.org/drawingml/2006/main">
              <a:ext uri="{FF2B5EF4-FFF2-40B4-BE49-F238E27FC236}">
                <a16:creationId xmlns:a16="http://schemas.microsoft.com/office/drawing/2014/main" id="{65321287-7F69-4E79-9DF5-A5CBD76A5D0D}"/>
              </a:ext>
            </a:extLst>
          </p:cNvPr>
          <p:cNvSpPr>
            <a:spLocks xmlns:a="http://schemas.openxmlformats.org/drawingml/2006/main" noGrp="1"/>
          </p:cNvSpPr>
          <p:nvPr/>
        </p:nvSpPr>
        <p:spPr>
          <a:xfrm xmlns:a="http://schemas.openxmlformats.org/drawingml/2006/main">
            <a:off x="609600" y="1752600"/>
            <a:ext cx="3810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400" b="1">
                <a:solidFill>
                  <a:srgbClr val="087E82"/>
                </a:solidFill>
                <a:latin typeface="Malgun Gothic"/>
                <a:ea typeface="Malgun Gothic"/>
                <a:cs typeface="Malgun Gothic"/>
              </a:defRPr>
            </a:defPPr>
          </a:lstStyle>
          <a:p xmlns:a="http://schemas.openxmlformats.org/drawingml/2006/main">
            <a:pPr>
              <a:defRPr sz="5400" b="1">
                <a:solidFill>
                  <a:srgbClr val="087E82"/>
                </a:solidFill>
                <a:latin typeface="Malgun Gothic"/>
                <a:ea typeface="Malgun Gothic"/>
                <a:cs typeface="Malgun Gothic"/>
              </a:defRPr>
            </a:pPr>
            <a:r>
              <a:rPr sz="5400" b="1">
                <a:solidFill>
                  <a:srgbClr val="087E82"/>
                </a:solidFill>
                <a:latin typeface="Malgun Gothic"/>
                <a:ea typeface="Malgun Gothic"/>
                <a:cs typeface="Malgun Gothic"/>
              </a:rPr>
              <a:t>10 ms</a:t>
            </a:r>
          </a:p>
        </p:txBody>
      </p:sp>
      <p:sp>
        <p:nvSpPr>
          <p:cNvPr id="4" name="마다 한 번 취득">
            <a:extLst xmlns:a="http://schemas.openxmlformats.org/drawingml/2006/main">
              <a:ext uri="{FF2B5EF4-FFF2-40B4-BE49-F238E27FC236}">
                <a16:creationId xmlns:a16="http://schemas.microsoft.com/office/drawing/2014/main" id="{FD6611C5-6445-4A4B-B84F-82CC0D7E53CD}"/>
              </a:ext>
            </a:extLst>
          </p:cNvPr>
          <p:cNvSpPr>
            <a:spLocks xmlns:a="http://schemas.openxmlformats.org/drawingml/2006/main" noGrp="1"/>
          </p:cNvSpPr>
          <p:nvPr/>
        </p:nvSpPr>
        <p:spPr>
          <a:xfrm xmlns:a="http://schemas.openxmlformats.org/drawingml/2006/main">
            <a:off x="609600" y="2952750"/>
            <a:ext cx="466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52C3D"/>
                </a:solidFill>
                <a:latin typeface="Malgun Gothic"/>
                <a:ea typeface="Malgun Gothic"/>
                <a:cs typeface="Malgun Gothic"/>
              </a:defRPr>
            </a:defPPr>
          </a:lstStyle>
          <a:p xmlns:a="http://schemas.openxmlformats.org/drawingml/2006/main">
            <a:pPr>
              <a:defRPr sz="2250" b="1">
                <a:solidFill>
                  <a:srgbClr val="152C3D"/>
                </a:solidFill>
                <a:latin typeface="Malgun Gothic"/>
                <a:ea typeface="Malgun Gothic"/>
                <a:cs typeface="Malgun Gothic"/>
              </a:defRPr>
            </a:pPr>
            <a:r>
              <a:rPr sz="2250" b="1">
                <a:solidFill>
                  <a:srgbClr val="152C3D"/>
                </a:solidFill>
                <a:latin typeface="Malgun Gothic"/>
                <a:ea typeface="Malgun Gothic"/>
                <a:cs typeface="Malgun Gothic"/>
              </a:rPr>
              <a:t>마다 한 번 취득</a:t>
            </a:r>
          </a:p>
        </p:txBody>
      </p:sp>
      <p:sp>
        <p:nvSpPr>
          <p:cNvPr id="5" name="최근 20개">
            <a:extLst xmlns:a="http://schemas.openxmlformats.org/drawingml/2006/main">
              <a:ext uri="{FF2B5EF4-FFF2-40B4-BE49-F238E27FC236}">
                <a16:creationId xmlns:a16="http://schemas.microsoft.com/office/drawing/2014/main" id="{867614E6-853A-4174-94E9-A5247DA3D9D9}"/>
              </a:ext>
            </a:extLst>
          </p:cNvPr>
          <p:cNvSpPr>
            <a:spLocks xmlns:a="http://schemas.openxmlformats.org/drawingml/2006/main" noGrp="1"/>
          </p:cNvSpPr>
          <p:nvPr/>
        </p:nvSpPr>
        <p:spPr>
          <a:xfrm xmlns:a="http://schemas.openxmlformats.org/drawingml/2006/main">
            <a:off x="6572250" y="1752600"/>
            <a:ext cx="5048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950" b="1">
                <a:solidFill>
                  <a:srgbClr val="D57628"/>
                </a:solidFill>
                <a:latin typeface="Malgun Gothic"/>
                <a:ea typeface="Malgun Gothic"/>
                <a:cs typeface="Malgun Gothic"/>
              </a:defRPr>
            </a:defPPr>
          </a:lstStyle>
          <a:p xmlns:a="http://schemas.openxmlformats.org/drawingml/2006/main">
            <a:pPr>
              <a:defRPr sz="4950" b="1">
                <a:solidFill>
                  <a:srgbClr val="D57628"/>
                </a:solidFill>
                <a:latin typeface="Malgun Gothic"/>
                <a:ea typeface="Malgun Gothic"/>
                <a:cs typeface="Malgun Gothic"/>
              </a:defRPr>
            </a:pPr>
            <a:r>
              <a:rPr sz="4950" b="1">
                <a:solidFill>
                  <a:srgbClr val="D57628"/>
                </a:solidFill>
                <a:latin typeface="Malgun Gothic"/>
                <a:ea typeface="Malgun Gothic"/>
                <a:cs typeface="Malgun Gothic"/>
              </a:rPr>
              <a:t>최근 20개</a:t>
            </a:r>
          </a:p>
        </p:txBody>
      </p:sp>
      <p:sp>
        <p:nvSpPr>
          <p:cNvPr id="6" name="약 200 ms의 변화 평가">
            <a:extLst xmlns:a="http://schemas.openxmlformats.org/drawingml/2006/main">
              <a:ext uri="{FF2B5EF4-FFF2-40B4-BE49-F238E27FC236}">
                <a16:creationId xmlns:a16="http://schemas.microsoft.com/office/drawing/2014/main" id="{69DD3007-0102-4CA3-BD52-72ACD7ADA5F3}"/>
              </a:ext>
            </a:extLst>
          </p:cNvPr>
          <p:cNvSpPr>
            <a:spLocks xmlns:a="http://schemas.openxmlformats.org/drawingml/2006/main" noGrp="1"/>
          </p:cNvSpPr>
          <p:nvPr/>
        </p:nvSpPr>
        <p:spPr>
          <a:xfrm xmlns:a="http://schemas.openxmlformats.org/drawingml/2006/main">
            <a:off x="6572250" y="2952750"/>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52C3D"/>
                </a:solidFill>
                <a:latin typeface="Malgun Gothic"/>
                <a:ea typeface="Malgun Gothic"/>
                <a:cs typeface="Malgun Gothic"/>
              </a:defRPr>
            </a:defPPr>
          </a:lstStyle>
          <a:p xmlns:a="http://schemas.openxmlformats.org/drawingml/2006/main">
            <a:pPr>
              <a:defRPr sz="2250" b="1">
                <a:solidFill>
                  <a:srgbClr val="152C3D"/>
                </a:solidFill>
                <a:latin typeface="Malgun Gothic"/>
                <a:ea typeface="Malgun Gothic"/>
                <a:cs typeface="Malgun Gothic"/>
              </a:defRPr>
            </a:pPr>
            <a:r>
              <a:rPr sz="2250" b="1">
                <a:solidFill>
                  <a:srgbClr val="152C3D"/>
                </a:solidFill>
                <a:latin typeface="Malgun Gothic"/>
                <a:ea typeface="Malgun Gothic"/>
                <a:cs typeface="Malgun Gothic"/>
              </a:rPr>
              <a:t>약 200 ms의 변화 평가</a:t>
            </a:r>
          </a:p>
        </p:txBody>
      </p:sp>
      <p:sp>
        <p:nvSpPr>
          <p:cNvPr id="7" name="새 값 추가 시 가장 오래된 값을 빼고 다시 계산">
            <a:extLst xmlns:a="http://schemas.openxmlformats.org/drawingml/2006/main">
              <a:ext uri="{FF2B5EF4-FFF2-40B4-BE49-F238E27FC236}">
                <a16:creationId xmlns:a16="http://schemas.microsoft.com/office/drawing/2014/main" id="{8B681F2A-AAA9-4A35-9D15-1EEE92DF817C}"/>
              </a:ext>
            </a:extLst>
          </p:cNvPr>
          <p:cNvSpPr>
            <a:spLocks xmlns:a="http://schemas.openxmlformats.org/drawingml/2006/main" noGrp="1"/>
          </p:cNvSpPr>
          <p:nvPr/>
        </p:nvSpPr>
        <p:spPr>
          <a:xfrm xmlns:a="http://schemas.openxmlformats.org/drawingml/2006/main">
            <a:off x="609600" y="41719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52C3D"/>
                </a:solidFill>
                <a:latin typeface="Malgun Gothic"/>
                <a:ea typeface="Malgun Gothic"/>
                <a:cs typeface="Malgun Gothic"/>
              </a:defRPr>
            </a:defPPr>
          </a:lstStyle>
          <a:p xmlns:a="http://schemas.openxmlformats.org/drawingml/2006/main">
            <a:pPr>
              <a:defRPr sz="2325" b="1">
                <a:solidFill>
                  <a:srgbClr val="152C3D"/>
                </a:solidFill>
                <a:latin typeface="Malgun Gothic"/>
                <a:ea typeface="Malgun Gothic"/>
                <a:cs typeface="Malgun Gothic"/>
              </a:defRPr>
            </a:pPr>
            <a:r>
              <a:rPr sz="2325" b="1">
                <a:solidFill>
                  <a:srgbClr val="152C3D"/>
                </a:solidFill>
                <a:latin typeface="Malgun Gothic"/>
                <a:ea typeface="Malgun Gothic"/>
                <a:cs typeface="Malgun Gothic"/>
              </a:rPr>
              <a:t>새 값 추가 시 가장 오래된 값을 빼고 다시 계산</a:t>
            </a:r>
          </a:p>
        </p:txBody>
      </p:sp>
      <p:sp>
        <p:nvSpPr>
          <p:cNvPr id="8" name="취득은 빠르게, 계산은 최근 구간으로, 전송은 상태 변화 ">
            <a:extLst xmlns:a="http://schemas.openxmlformats.org/drawingml/2006/main">
              <a:ext uri="{FF2B5EF4-FFF2-40B4-BE49-F238E27FC236}">
                <a16:creationId xmlns:a16="http://schemas.microsoft.com/office/drawing/2014/main" id="{5FFA279A-48CD-44C1-ABF8-B1805A0CF805}"/>
              </a:ext>
            </a:extLst>
          </p:cNvPr>
          <p:cNvSpPr>
            <a:spLocks xmlns:a="http://schemas.openxmlformats.org/drawingml/2006/main" noGrp="1"/>
          </p:cNvSpPr>
          <p:nvPr/>
        </p:nvSpPr>
        <p:spPr>
          <a:xfrm xmlns:a="http://schemas.openxmlformats.org/drawingml/2006/main">
            <a:off x="609600" y="51530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526773"/>
                </a:solidFill>
                <a:latin typeface="Malgun Gothic"/>
                <a:ea typeface="Malgun Gothic"/>
                <a:cs typeface="Malgun Gothic"/>
              </a:defRPr>
            </a:defPPr>
          </a:lstStyle>
          <a:p xmlns:a="http://schemas.openxmlformats.org/drawingml/2006/main">
            <a:pPr>
              <a:defRPr sz="2175" b="0">
                <a:solidFill>
                  <a:srgbClr val="526773"/>
                </a:solidFill>
                <a:latin typeface="Malgun Gothic"/>
                <a:ea typeface="Malgun Gothic"/>
                <a:cs typeface="Malgun Gothic"/>
              </a:defRPr>
            </a:pPr>
            <a:r>
              <a:rPr sz="2175" b="0">
                <a:solidFill>
                  <a:srgbClr val="526773"/>
                </a:solidFill>
                <a:latin typeface="Malgun Gothic"/>
                <a:ea typeface="Malgun Gothic"/>
                <a:cs typeface="Malgun Gothic"/>
              </a:rPr>
              <a:t>취득은 빠르게, 계산은 최근 구간으로, 전송은 상태 변화 때</a:t>
            </a:r>
          </a:p>
        </p:txBody>
      </p:sp>
      <p:sp>
        <p:nvSpPr>
          <p:cNvPr id="9" name="주기와 구간 길이는 실험 후보. 첫 판정에는 충분한 샘플 ">
            <a:extLst xmlns:a="http://schemas.openxmlformats.org/drawingml/2006/main">
              <a:ext uri="{FF2B5EF4-FFF2-40B4-BE49-F238E27FC236}">
                <a16:creationId xmlns:a16="http://schemas.microsoft.com/office/drawing/2014/main" id="{B6CF1ED2-E194-4D94-929C-A4843D3DB8CF}"/>
              </a:ext>
            </a:extLst>
          </p:cNvPr>
          <p:cNvSpPr>
            <a:spLocks xmlns:a="http://schemas.openxmlformats.org/drawingml/2006/main" noGrp="1"/>
          </p:cNvSpPr>
          <p:nvPr/>
        </p:nvSpPr>
        <p:spPr>
          <a:xfrm xmlns:a="http://schemas.openxmlformats.org/drawingml/2006/main">
            <a:off x="609600" y="61055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26773"/>
                </a:solidFill>
                <a:latin typeface="Malgun Gothic"/>
                <a:ea typeface="Malgun Gothic"/>
                <a:cs typeface="Malgun Gothic"/>
              </a:defRPr>
            </a:defPPr>
          </a:lstStyle>
          <a:p xmlns:a="http://schemas.openxmlformats.org/drawingml/2006/main">
            <a:pPr>
              <a:defRPr sz="1575" b="0">
                <a:solidFill>
                  <a:srgbClr val="526773"/>
                </a:solidFill>
                <a:latin typeface="Malgun Gothic"/>
                <a:ea typeface="Malgun Gothic"/>
                <a:cs typeface="Malgun Gothic"/>
              </a:defRPr>
            </a:pPr>
            <a:r>
              <a:rPr sz="1575" b="0">
                <a:solidFill>
                  <a:srgbClr val="526773"/>
                </a:solidFill>
                <a:latin typeface="Malgun Gothic"/>
                <a:ea typeface="Malgun Gothic"/>
                <a:cs typeface="Malgun Gothic"/>
              </a:rPr>
              <a:t>주기와 구간 길이는 실험 후보. 첫 판정에는 충분한 샘플 확보 필요</a:t>
            </a:r>
          </a:p>
        </p:txBody>
      </p:sp>
    </p:spTree>
    <p:extLst>
      <p:ext uri="{BB962C8B-B14F-4D97-AF65-F5344CB8AC3E}">
        <p14:creationId xmlns:p14="http://schemas.microsoft.com/office/powerpoint/2010/main" val="836618352"/>
      </p:ext>
    </p:extLst>
  </p:cSld>
</p:sld>
</file>

<file path=ppt/slides/slide6.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9" name="순간값 대신 구간의 흔들림 크기">
            <a:extLst xmlns:a="http://schemas.openxmlformats.org/drawingml/2006/main">
              <a:ext uri="{FF2B5EF4-FFF2-40B4-BE49-F238E27FC236}">
                <a16:creationId xmlns:a16="http://schemas.microsoft.com/office/drawing/2014/main" id="{B921A7D2-9894-4586-9E48-C4CCB30EF365}"/>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순간값 대신 구간의 흔들림 크기</a:t>
            </a:r>
          </a:p>
        </p:txBody>
      </p:sp>
      <p:sp>
        <p:nvSpPr>
          <p:cNvPr id="2" name="06">
            <a:extLst xmlns:a="http://schemas.openxmlformats.org/drawingml/2006/main">
              <a:ext uri="{FF2B5EF4-FFF2-40B4-BE49-F238E27FC236}">
                <a16:creationId xmlns:a16="http://schemas.microsoft.com/office/drawing/2014/main" id="{3E4E8C99-F121-4DE4-9D12-DD0BFEF8C778}"/>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06</a:t>
            </a:r>
          </a:p>
        </p:txBody>
      </p:sp>
      <p:graphicFrame>
        <p:nvGraphicFramePr>
          <p:cNvPr id="3" name="Chart">
            <a:extLst xmlns:a="http://schemas.openxmlformats.org/drawingml/2006/main">
              <a:ext uri="{FF2B5EF4-FFF2-40B4-BE49-F238E27FC236}">
                <a16:creationId xmlns:a16="http://schemas.microsoft.com/office/drawing/2014/main" id="{F2C3F1C3-D9EB-480C-853B-B59B03C40AAC}"/>
              </a:ext>
            </a:extLst>
          </p:cNvPr>
          <p:cNvGraphicFramePr/>
          <p:nvPr/>
        </p:nvGraphicFramePr>
        <p:xfrm>
          <a:off xmlns:a="http://schemas.openxmlformats.org/drawingml/2006/main" x="590550" y="1504950"/>
          <a:ext xmlns:a="http://schemas.openxmlformats.org/drawingml/2006/main" cx="7000875" cy="3714750"/>
        </p:xfrm>
        <a:graphic xmlns:a="http://schemas.openxmlformats.org/drawingml/2006/main">
          <a:graphicData uri="http://schemas.openxmlformats.org/drawingml/2006/chart">
            <c:chart xmlns:r="http://schemas.openxmlformats.org/officeDocument/2006/relationships" xmlns:c="http://schemas.openxmlformats.org/drawingml/2006/chart" r:id="R8ec351b4e29b4aea"/>
          </a:graphicData>
        </a:graphic>
      </p:graphicFrame>
      <p:sp>
        <p:nvSpPr>
          <p:cNvPr id="4" name="최대 +2000">
            <a:extLst xmlns:a="http://schemas.openxmlformats.org/drawingml/2006/main">
              <a:ext uri="{FF2B5EF4-FFF2-40B4-BE49-F238E27FC236}">
                <a16:creationId xmlns:a16="http://schemas.microsoft.com/office/drawing/2014/main" id="{A5C8DA84-D35C-44B0-AAE5-6FBDE6ADF969}"/>
              </a:ext>
            </a:extLst>
          </p:cNvPr>
          <p:cNvSpPr>
            <a:spLocks xmlns:a="http://schemas.openxmlformats.org/drawingml/2006/main" noGrp="1"/>
          </p:cNvSpPr>
          <p:nvPr/>
        </p:nvSpPr>
        <p:spPr>
          <a:xfrm xmlns:a="http://schemas.openxmlformats.org/drawingml/2006/main">
            <a:off x="8048625" y="18478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087E82"/>
                </a:solidFill>
                <a:latin typeface="Malgun Gothic"/>
                <a:ea typeface="Malgun Gothic"/>
                <a:cs typeface="Malgun Gothic"/>
              </a:defRPr>
            </a:defPPr>
          </a:lstStyle>
          <a:p xmlns:a="http://schemas.openxmlformats.org/drawingml/2006/main">
            <a:pPr>
              <a:defRPr sz="2400" b="1">
                <a:solidFill>
                  <a:srgbClr val="087E82"/>
                </a:solidFill>
                <a:latin typeface="Malgun Gothic"/>
                <a:ea typeface="Malgun Gothic"/>
                <a:cs typeface="Malgun Gothic"/>
              </a:defRPr>
            </a:pPr>
            <a:r>
              <a:rPr sz="2400" b="1">
                <a:solidFill>
                  <a:srgbClr val="087E82"/>
                </a:solidFill>
                <a:latin typeface="Malgun Gothic"/>
                <a:ea typeface="Malgun Gothic"/>
                <a:cs typeface="Malgun Gothic"/>
              </a:rPr>
              <a:t>최대 +2000</a:t>
            </a:r>
          </a:p>
        </p:txBody>
      </p:sp>
      <p:sp>
        <p:nvSpPr>
          <p:cNvPr id="5" name="최소 −2000">
            <a:extLst xmlns:a="http://schemas.openxmlformats.org/drawingml/2006/main">
              <a:ext uri="{FF2B5EF4-FFF2-40B4-BE49-F238E27FC236}">
                <a16:creationId xmlns:a16="http://schemas.microsoft.com/office/drawing/2014/main" id="{83127797-7230-4EAE-8507-CEA0D65D746D}"/>
              </a:ext>
            </a:extLst>
          </p:cNvPr>
          <p:cNvSpPr>
            <a:spLocks xmlns:a="http://schemas.openxmlformats.org/drawingml/2006/main" noGrp="1"/>
          </p:cNvSpPr>
          <p:nvPr/>
        </p:nvSpPr>
        <p:spPr>
          <a:xfrm xmlns:a="http://schemas.openxmlformats.org/drawingml/2006/main">
            <a:off x="8048625" y="25527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087E82"/>
                </a:solidFill>
                <a:latin typeface="Malgun Gothic"/>
                <a:ea typeface="Malgun Gothic"/>
                <a:cs typeface="Malgun Gothic"/>
              </a:defRPr>
            </a:defPPr>
          </a:lstStyle>
          <a:p xmlns:a="http://schemas.openxmlformats.org/drawingml/2006/main">
            <a:pPr>
              <a:defRPr sz="2400" b="1">
                <a:solidFill>
                  <a:srgbClr val="087E82"/>
                </a:solidFill>
                <a:latin typeface="Malgun Gothic"/>
                <a:ea typeface="Malgun Gothic"/>
                <a:cs typeface="Malgun Gothic"/>
              </a:defRPr>
            </a:pPr>
            <a:r>
              <a:rPr sz="2400" b="1">
                <a:solidFill>
                  <a:srgbClr val="087E82"/>
                </a:solidFill>
                <a:latin typeface="Malgun Gothic"/>
                <a:ea typeface="Malgun Gothic"/>
                <a:cs typeface="Malgun Gothic"/>
              </a:rPr>
              <a:t>최소 −2000</a:t>
            </a:r>
          </a:p>
        </p:txBody>
      </p:sp>
      <p:sp>
        <p:nvSpPr>
          <p:cNvPr id="6" name="차이 4000">
            <a:extLst xmlns:a="http://schemas.openxmlformats.org/drawingml/2006/main">
              <a:ext uri="{FF2B5EF4-FFF2-40B4-BE49-F238E27FC236}">
                <a16:creationId xmlns:a16="http://schemas.microsoft.com/office/drawing/2014/main" id="{3E5B80B6-5B8A-45C5-9B67-5D9C4292ED1E}"/>
              </a:ext>
            </a:extLst>
          </p:cNvPr>
          <p:cNvSpPr>
            <a:spLocks xmlns:a="http://schemas.openxmlformats.org/drawingml/2006/main" noGrp="1"/>
          </p:cNvSpPr>
          <p:nvPr/>
        </p:nvSpPr>
        <p:spPr>
          <a:xfrm xmlns:a="http://schemas.openxmlformats.org/drawingml/2006/main">
            <a:off x="8048625" y="342900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D57628"/>
                </a:solidFill>
                <a:latin typeface="Malgun Gothic"/>
                <a:ea typeface="Malgun Gothic"/>
                <a:cs typeface="Malgun Gothic"/>
              </a:defRPr>
            </a:defPPr>
          </a:lstStyle>
          <a:p xmlns:a="http://schemas.openxmlformats.org/drawingml/2006/main">
            <a:pPr>
              <a:defRPr sz="3300" b="1">
                <a:solidFill>
                  <a:srgbClr val="D57628"/>
                </a:solidFill>
                <a:latin typeface="Malgun Gothic"/>
                <a:ea typeface="Malgun Gothic"/>
                <a:cs typeface="Malgun Gothic"/>
              </a:defRPr>
            </a:pPr>
            <a:r>
              <a:rPr sz="3300" b="1">
                <a:solidFill>
                  <a:srgbClr val="D57628"/>
                </a:solidFill>
                <a:latin typeface="Malgun Gothic"/>
                <a:ea typeface="Malgun Gothic"/>
                <a:cs typeface="Malgun Gothic"/>
              </a:rPr>
              <a:t>차이 4000</a:t>
            </a:r>
          </a:p>
        </p:txBody>
      </p:sp>
      <p:sp>
        <p:nvSpPr>
          <p:cNvPr id="7" name="구간 안의 최대·최소 차이와 RMS로 이상 후보 평가">
            <a:extLst xmlns:a="http://schemas.openxmlformats.org/drawingml/2006/main">
              <a:ext uri="{FF2B5EF4-FFF2-40B4-BE49-F238E27FC236}">
                <a16:creationId xmlns:a16="http://schemas.microsoft.com/office/drawing/2014/main" id="{EF6C2FD4-1976-407E-A001-CB97561FBFE0}"/>
              </a:ext>
            </a:extLst>
          </p:cNvPr>
          <p:cNvSpPr>
            <a:spLocks xmlns:a="http://schemas.openxmlformats.org/drawingml/2006/main" noGrp="1"/>
          </p:cNvSpPr>
          <p:nvPr/>
        </p:nvSpPr>
        <p:spPr>
          <a:xfrm xmlns:a="http://schemas.openxmlformats.org/drawingml/2006/main">
            <a:off x="609600" y="541020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52C3D"/>
                </a:solidFill>
                <a:latin typeface="Malgun Gothic"/>
                <a:ea typeface="Malgun Gothic"/>
                <a:cs typeface="Malgun Gothic"/>
              </a:defRPr>
            </a:defPPr>
          </a:lstStyle>
          <a:p xmlns:a="http://schemas.openxmlformats.org/drawingml/2006/main">
            <a:pPr>
              <a:defRPr sz="2250" b="1">
                <a:solidFill>
                  <a:srgbClr val="152C3D"/>
                </a:solidFill>
                <a:latin typeface="Malgun Gothic"/>
                <a:ea typeface="Malgun Gothic"/>
                <a:cs typeface="Malgun Gothic"/>
              </a:defRPr>
            </a:pPr>
            <a:r>
              <a:rPr sz="2250" b="1">
                <a:solidFill>
                  <a:srgbClr val="152C3D"/>
                </a:solidFill>
                <a:latin typeface="Malgun Gothic"/>
                <a:ea typeface="Malgun Gothic"/>
                <a:cs typeface="Malgun Gothic"/>
              </a:rPr>
              <a:t>구간 안의 최대·최소 차이와 RMS로 이상 후보 평가</a:t>
            </a:r>
          </a:p>
        </p:txBody>
      </p:sp>
      <p:sp>
        <p:nvSpPr>
          <p:cNvPr id="8" name="빠른 취득 주기·계산 구간·임계값은 실험으로 결정. 수치는">
            <a:extLst xmlns:a="http://schemas.openxmlformats.org/drawingml/2006/main">
              <a:ext uri="{FF2B5EF4-FFF2-40B4-BE49-F238E27FC236}">
                <a16:creationId xmlns:a16="http://schemas.microsoft.com/office/drawing/2014/main" id="{00CCFA51-BC50-405E-949E-5196F517A59B}"/>
              </a:ext>
            </a:extLst>
          </p:cNvPr>
          <p:cNvSpPr>
            <a:spLocks xmlns:a="http://schemas.openxmlformats.org/drawingml/2006/main" noGrp="1"/>
          </p:cNvSpPr>
          <p:nvPr/>
        </p:nvSpPr>
        <p:spPr>
          <a:xfrm xmlns:a="http://schemas.openxmlformats.org/drawingml/2006/main">
            <a:off x="609600" y="61531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773"/>
                </a:solidFill>
                <a:latin typeface="Malgun Gothic"/>
                <a:ea typeface="Malgun Gothic"/>
                <a:cs typeface="Malgun Gothic"/>
              </a:defRPr>
            </a:defPPr>
          </a:lstStyle>
          <a:p xmlns:a="http://schemas.openxmlformats.org/drawingml/2006/main">
            <a:pPr>
              <a:defRPr sz="1500" b="0">
                <a:solidFill>
                  <a:srgbClr val="526773"/>
                </a:solidFill>
                <a:latin typeface="Malgun Gothic"/>
                <a:ea typeface="Malgun Gothic"/>
                <a:cs typeface="Malgun Gothic"/>
              </a:defRPr>
            </a:pPr>
            <a:r>
              <a:rPr sz="1500" b="0">
                <a:solidFill>
                  <a:srgbClr val="526773"/>
                </a:solidFill>
                <a:latin typeface="Malgun Gothic"/>
                <a:ea typeface="Malgun Gothic"/>
                <a:cs typeface="Malgun Gothic"/>
              </a:rPr>
              <a:t>빠른 취득 주기·계산 구간·임계값은 실험으로 결정. 수치는 설명용</a:t>
            </a:r>
          </a:p>
        </p:txBody>
      </p:sp>
    </p:spTree>
    <p:extLst>
      <p:ext uri="{BB962C8B-B14F-4D97-AF65-F5344CB8AC3E}">
        <p14:creationId xmlns:p14="http://schemas.microsoft.com/office/powerpoint/2010/main" val="572762729"/>
      </p:ext>
    </p:extLst>
  </p:cSld>
</p:sld>
</file>

<file path=ppt/slides/slide7.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2" name="RMS: 양수와 음수가 상쇄되지 않는 크기">
            <a:extLst xmlns:a="http://schemas.openxmlformats.org/drawingml/2006/main">
              <a:ext uri="{FF2B5EF4-FFF2-40B4-BE49-F238E27FC236}">
                <a16:creationId xmlns:a16="http://schemas.microsoft.com/office/drawing/2014/main" id="{0AEFF2CF-EEFD-4BA9-9126-6B032A2DD353}"/>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RMS: 양수와 음수가 상쇄되지 않는 크기</a:t>
            </a:r>
          </a:p>
        </p:txBody>
      </p:sp>
      <p:sp>
        <p:nvSpPr>
          <p:cNvPr id="2" name="07">
            <a:extLst xmlns:a="http://schemas.openxmlformats.org/drawingml/2006/main">
              <a:ext uri="{FF2B5EF4-FFF2-40B4-BE49-F238E27FC236}">
                <a16:creationId xmlns:a16="http://schemas.microsoft.com/office/drawing/2014/main" id="{91169933-8A07-40DF-A081-7916B2A23E2B}"/>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07</a:t>
            </a:r>
          </a:p>
        </p:txBody>
      </p:sp>
      <p:sp>
        <p:nvSpPr>
          <p:cNvPr id="3" name="기준 대비 변화: 0, +2000, −2000, 0">
            <a:extLst xmlns:a="http://schemas.openxmlformats.org/drawingml/2006/main">
              <a:ext uri="{FF2B5EF4-FFF2-40B4-BE49-F238E27FC236}">
                <a16:creationId xmlns:a16="http://schemas.microsoft.com/office/drawing/2014/main" id="{D0A18D39-79AC-4504-96CC-FDF8118A543D}"/>
              </a:ext>
            </a:extLst>
          </p:cNvPr>
          <p:cNvSpPr>
            <a:spLocks xmlns:a="http://schemas.openxmlformats.org/drawingml/2006/main" noGrp="1"/>
          </p:cNvSpPr>
          <p:nvPr/>
        </p:nvSpPr>
        <p:spPr>
          <a:xfrm xmlns:a="http://schemas.openxmlformats.org/drawingml/2006/main">
            <a:off x="609600" y="15811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52C3D"/>
                </a:solidFill>
                <a:latin typeface="Malgun Gothic"/>
                <a:ea typeface="Malgun Gothic"/>
                <a:cs typeface="Malgun Gothic"/>
              </a:defRPr>
            </a:defPPr>
          </a:lstStyle>
          <a:p xmlns:a="http://schemas.openxmlformats.org/drawingml/2006/main">
            <a:pPr>
              <a:defRPr sz="2325" b="1">
                <a:solidFill>
                  <a:srgbClr val="152C3D"/>
                </a:solidFill>
                <a:latin typeface="Malgun Gothic"/>
                <a:ea typeface="Malgun Gothic"/>
                <a:cs typeface="Malgun Gothic"/>
              </a:defRPr>
            </a:pPr>
            <a:r>
              <a:rPr sz="2325" b="1">
                <a:solidFill>
                  <a:srgbClr val="152C3D"/>
                </a:solidFill>
                <a:latin typeface="Malgun Gothic"/>
                <a:ea typeface="Malgun Gothic"/>
                <a:cs typeface="Malgun Gothic"/>
              </a:rPr>
              <a:t>기준 대비 변화: 0, +2000, −2000, 0</a:t>
            </a:r>
          </a:p>
        </p:txBody>
      </p:sp>
      <p:sp>
        <p:nvSpPr>
          <p:cNvPr id="4" name="단순 평균">
            <a:extLst xmlns:a="http://schemas.openxmlformats.org/drawingml/2006/main">
              <a:ext uri="{FF2B5EF4-FFF2-40B4-BE49-F238E27FC236}">
                <a16:creationId xmlns:a16="http://schemas.microsoft.com/office/drawing/2014/main" id="{91B72525-F839-40BC-B541-0B5AC443033D}"/>
              </a:ext>
            </a:extLst>
          </p:cNvPr>
          <p:cNvSpPr>
            <a:spLocks xmlns:a="http://schemas.openxmlformats.org/drawingml/2006/main" noGrp="1"/>
          </p:cNvSpPr>
          <p:nvPr/>
        </p:nvSpPr>
        <p:spPr>
          <a:xfrm xmlns:a="http://schemas.openxmlformats.org/drawingml/2006/main">
            <a:off x="609600" y="2647950"/>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526773"/>
                </a:solidFill>
                <a:latin typeface="Malgun Gothic"/>
                <a:ea typeface="Malgun Gothic"/>
                <a:cs typeface="Malgun Gothic"/>
              </a:defRPr>
            </a:defPPr>
          </a:lstStyle>
          <a:p xmlns:a="http://schemas.openxmlformats.org/drawingml/2006/main">
            <a:pPr>
              <a:defRPr sz="2400" b="1">
                <a:solidFill>
                  <a:srgbClr val="526773"/>
                </a:solidFill>
                <a:latin typeface="Malgun Gothic"/>
                <a:ea typeface="Malgun Gothic"/>
                <a:cs typeface="Malgun Gothic"/>
              </a:defRPr>
            </a:pPr>
            <a:r>
              <a:rPr sz="2400" b="1">
                <a:solidFill>
                  <a:srgbClr val="526773"/>
                </a:solidFill>
                <a:latin typeface="Malgun Gothic"/>
                <a:ea typeface="Malgun Gothic"/>
                <a:cs typeface="Malgun Gothic"/>
              </a:rPr>
              <a:t>단순 평균</a:t>
            </a:r>
          </a:p>
        </p:txBody>
      </p:sp>
      <p:sp>
        <p:nvSpPr>
          <p:cNvPr id="5" name="0">
            <a:extLst xmlns:a="http://schemas.openxmlformats.org/drawingml/2006/main">
              <a:ext uri="{FF2B5EF4-FFF2-40B4-BE49-F238E27FC236}">
                <a16:creationId xmlns:a16="http://schemas.microsoft.com/office/drawing/2014/main" id="{CC9680E9-BC10-4E0C-BF26-CC437652413C}"/>
              </a:ext>
            </a:extLst>
          </p:cNvPr>
          <p:cNvSpPr>
            <a:spLocks xmlns:a="http://schemas.openxmlformats.org/drawingml/2006/main" noGrp="1"/>
          </p:cNvSpPr>
          <p:nvPr/>
        </p:nvSpPr>
        <p:spPr>
          <a:xfrm xmlns:a="http://schemas.openxmlformats.org/drawingml/2006/main">
            <a:off x="609600" y="3381375"/>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400" b="1">
                <a:solidFill>
                  <a:srgbClr val="526773"/>
                </a:solidFill>
                <a:latin typeface="Malgun Gothic"/>
                <a:ea typeface="Malgun Gothic"/>
                <a:cs typeface="Malgun Gothic"/>
              </a:defRPr>
            </a:defPPr>
          </a:lstStyle>
          <a:p xmlns:a="http://schemas.openxmlformats.org/drawingml/2006/main">
            <a:pPr>
              <a:defRPr sz="5400" b="1">
                <a:solidFill>
                  <a:srgbClr val="526773"/>
                </a:solidFill>
                <a:latin typeface="Malgun Gothic"/>
                <a:ea typeface="Malgun Gothic"/>
                <a:cs typeface="Malgun Gothic"/>
              </a:defRPr>
            </a:pPr>
            <a:r>
              <a:rPr sz="5400" b="1">
                <a:solidFill>
                  <a:srgbClr val="526773"/>
                </a:solidFill>
                <a:latin typeface="Malgun Gothic"/>
                <a:ea typeface="Malgun Gothic"/>
                <a:cs typeface="Malgun Gothic"/>
              </a:rPr>
              <a:t>0</a:t>
            </a:r>
          </a:p>
        </p:txBody>
      </p:sp>
      <p:sp>
        <p:nvSpPr>
          <p:cNvPr id="6" name="양수와 음수가 서로 상쇄">
            <a:extLst xmlns:a="http://schemas.openxmlformats.org/drawingml/2006/main">
              <a:ext uri="{FF2B5EF4-FFF2-40B4-BE49-F238E27FC236}">
                <a16:creationId xmlns:a16="http://schemas.microsoft.com/office/drawing/2014/main" id="{FC87305E-197B-47BC-AA2B-8C4F316D6934}"/>
              </a:ext>
            </a:extLst>
          </p:cNvPr>
          <p:cNvSpPr>
            <a:spLocks xmlns:a="http://schemas.openxmlformats.org/drawingml/2006/main" noGrp="1"/>
          </p:cNvSpPr>
          <p:nvPr/>
        </p:nvSpPr>
        <p:spPr>
          <a:xfrm xmlns:a="http://schemas.openxmlformats.org/drawingml/2006/main">
            <a:off x="609600" y="44481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26773"/>
                </a:solidFill>
                <a:latin typeface="Malgun Gothic"/>
                <a:ea typeface="Malgun Gothic"/>
                <a:cs typeface="Malgun Gothic"/>
              </a:defRPr>
            </a:defPPr>
          </a:lstStyle>
          <a:p xmlns:a="http://schemas.openxmlformats.org/drawingml/2006/main">
            <a:pPr>
              <a:defRPr sz="2025" b="0">
                <a:solidFill>
                  <a:srgbClr val="526773"/>
                </a:solidFill>
                <a:latin typeface="Malgun Gothic"/>
                <a:ea typeface="Malgun Gothic"/>
                <a:cs typeface="Malgun Gothic"/>
              </a:defRPr>
            </a:pPr>
            <a:r>
              <a:rPr sz="2025" b="0">
                <a:solidFill>
                  <a:srgbClr val="526773"/>
                </a:solidFill>
                <a:latin typeface="Malgun Gothic"/>
                <a:ea typeface="Malgun Gothic"/>
                <a:cs typeface="Malgun Gothic"/>
              </a:rPr>
              <a:t>양수와 음수가 서로 상쇄</a:t>
            </a:r>
          </a:p>
        </p:txBody>
      </p:sp>
      <p:sp>
        <p:nvSpPr>
          <p:cNvPr id="7" name="RMS">
            <a:extLst xmlns:a="http://schemas.openxmlformats.org/drawingml/2006/main">
              <a:ext uri="{FF2B5EF4-FFF2-40B4-BE49-F238E27FC236}">
                <a16:creationId xmlns:a16="http://schemas.microsoft.com/office/drawing/2014/main" id="{0FAD0839-7393-4E50-A745-D24BA5E2752B}"/>
              </a:ext>
            </a:extLst>
          </p:cNvPr>
          <p:cNvSpPr>
            <a:spLocks xmlns:a="http://schemas.openxmlformats.org/drawingml/2006/main" noGrp="1"/>
          </p:cNvSpPr>
          <p:nvPr/>
        </p:nvSpPr>
        <p:spPr>
          <a:xfrm xmlns:a="http://schemas.openxmlformats.org/drawingml/2006/main">
            <a:off x="6477000" y="26479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087E82"/>
                </a:solidFill>
                <a:latin typeface="Malgun Gothic"/>
                <a:ea typeface="Malgun Gothic"/>
                <a:cs typeface="Malgun Gothic"/>
              </a:defRPr>
            </a:defPPr>
          </a:lstStyle>
          <a:p xmlns:a="http://schemas.openxmlformats.org/drawingml/2006/main">
            <a:pPr>
              <a:defRPr sz="2400" b="1">
                <a:solidFill>
                  <a:srgbClr val="087E82"/>
                </a:solidFill>
                <a:latin typeface="Malgun Gothic"/>
                <a:ea typeface="Malgun Gothic"/>
                <a:cs typeface="Malgun Gothic"/>
              </a:defRPr>
            </a:pPr>
            <a:r>
              <a:rPr sz="2400" b="1">
                <a:solidFill>
                  <a:srgbClr val="087E82"/>
                </a:solidFill>
                <a:latin typeface="Malgun Gothic"/>
                <a:ea typeface="Malgun Gothic"/>
                <a:cs typeface="Malgun Gothic"/>
              </a:rPr>
              <a:t>RMS</a:t>
            </a:r>
          </a:p>
        </p:txBody>
      </p:sp>
      <p:sp>
        <p:nvSpPr>
          <p:cNvPr id="8" name="약 1414 raw">
            <a:extLst xmlns:a="http://schemas.openxmlformats.org/drawingml/2006/main">
              <a:ext uri="{FF2B5EF4-FFF2-40B4-BE49-F238E27FC236}">
                <a16:creationId xmlns:a16="http://schemas.microsoft.com/office/drawing/2014/main" id="{D8B40CD6-B659-49B6-9083-3446C402C3AF}"/>
              </a:ext>
            </a:extLst>
          </p:cNvPr>
          <p:cNvSpPr>
            <a:spLocks xmlns:a="http://schemas.openxmlformats.org/drawingml/2006/main" noGrp="1"/>
          </p:cNvSpPr>
          <p:nvPr/>
        </p:nvSpPr>
        <p:spPr>
          <a:xfrm xmlns:a="http://schemas.openxmlformats.org/drawingml/2006/main">
            <a:off x="6477000" y="3381375"/>
            <a:ext cx="5143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500" b="1">
                <a:solidFill>
                  <a:srgbClr val="087E82"/>
                </a:solidFill>
                <a:latin typeface="Malgun Gothic"/>
                <a:ea typeface="Malgun Gothic"/>
                <a:cs typeface="Malgun Gothic"/>
              </a:defRPr>
            </a:defPPr>
          </a:lstStyle>
          <a:p xmlns:a="http://schemas.openxmlformats.org/drawingml/2006/main">
            <a:pPr>
              <a:defRPr sz="4500" b="1">
                <a:solidFill>
                  <a:srgbClr val="087E82"/>
                </a:solidFill>
                <a:latin typeface="Malgun Gothic"/>
                <a:ea typeface="Malgun Gothic"/>
                <a:cs typeface="Malgun Gothic"/>
              </a:defRPr>
            </a:pPr>
            <a:r>
              <a:rPr sz="4500" b="1">
                <a:solidFill>
                  <a:srgbClr val="087E82"/>
                </a:solidFill>
                <a:latin typeface="Malgun Gothic"/>
                <a:ea typeface="Malgun Gothic"/>
                <a:cs typeface="Malgun Gothic"/>
              </a:rPr>
              <a:t>약 1414 raw</a:t>
            </a:r>
          </a:p>
        </p:txBody>
      </p:sp>
      <p:sp>
        <p:nvSpPr>
          <p:cNvPr id="9" name="제곱한 값의 평균에 제곱근 적용">
            <a:extLst xmlns:a="http://schemas.openxmlformats.org/drawingml/2006/main">
              <a:ext uri="{FF2B5EF4-FFF2-40B4-BE49-F238E27FC236}">
                <a16:creationId xmlns:a16="http://schemas.microsoft.com/office/drawing/2014/main" id="{A643616D-BD93-4D7B-80CB-C49DBF6AF485}"/>
              </a:ext>
            </a:extLst>
          </p:cNvPr>
          <p:cNvSpPr>
            <a:spLocks xmlns:a="http://schemas.openxmlformats.org/drawingml/2006/main" noGrp="1"/>
          </p:cNvSpPr>
          <p:nvPr/>
        </p:nvSpPr>
        <p:spPr>
          <a:xfrm xmlns:a="http://schemas.openxmlformats.org/drawingml/2006/main">
            <a:off x="6477000" y="4448175"/>
            <a:ext cx="5191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26773"/>
                </a:solidFill>
                <a:latin typeface="Malgun Gothic"/>
                <a:ea typeface="Malgun Gothic"/>
                <a:cs typeface="Malgun Gothic"/>
              </a:defRPr>
            </a:defPPr>
          </a:lstStyle>
          <a:p xmlns:a="http://schemas.openxmlformats.org/drawingml/2006/main">
            <a:pPr>
              <a:defRPr sz="2025" b="0">
                <a:solidFill>
                  <a:srgbClr val="526773"/>
                </a:solidFill>
                <a:latin typeface="Malgun Gothic"/>
                <a:ea typeface="Malgun Gothic"/>
                <a:cs typeface="Malgun Gothic"/>
              </a:defRPr>
            </a:pPr>
            <a:r>
              <a:rPr sz="2025" b="0">
                <a:solidFill>
                  <a:srgbClr val="526773"/>
                </a:solidFill>
                <a:latin typeface="Malgun Gothic"/>
                <a:ea typeface="Malgun Gothic"/>
                <a:cs typeface="Malgun Gothic"/>
              </a:rPr>
              <a:t>제곱한 값의 평균에 제곱근 적용</a:t>
            </a:r>
          </a:p>
        </p:txBody>
      </p:sp>
      <p:sp>
        <p:nvSpPr>
          <p:cNvPr id="10" name="최대-최소는 큰 폭을, RMS는 구간 전반의 크기를 평가">
            <a:extLst xmlns:a="http://schemas.openxmlformats.org/drawingml/2006/main">
              <a:ext uri="{FF2B5EF4-FFF2-40B4-BE49-F238E27FC236}">
                <a16:creationId xmlns:a16="http://schemas.microsoft.com/office/drawing/2014/main" id="{D095B62C-79FA-4188-A945-527E14B7E2D2}"/>
              </a:ext>
            </a:extLst>
          </p:cNvPr>
          <p:cNvSpPr>
            <a:spLocks xmlns:a="http://schemas.openxmlformats.org/drawingml/2006/main" noGrp="1"/>
          </p:cNvSpPr>
          <p:nvPr/>
        </p:nvSpPr>
        <p:spPr>
          <a:xfrm xmlns:a="http://schemas.openxmlformats.org/drawingml/2006/main">
            <a:off x="609600" y="541020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52C3D"/>
                </a:solidFill>
                <a:latin typeface="Malgun Gothic"/>
                <a:ea typeface="Malgun Gothic"/>
                <a:cs typeface="Malgun Gothic"/>
              </a:defRPr>
            </a:defPPr>
          </a:lstStyle>
          <a:p xmlns:a="http://schemas.openxmlformats.org/drawingml/2006/main">
            <a:pPr>
              <a:defRPr sz="2175" b="1">
                <a:solidFill>
                  <a:srgbClr val="152C3D"/>
                </a:solidFill>
                <a:latin typeface="Malgun Gothic"/>
                <a:ea typeface="Malgun Gothic"/>
                <a:cs typeface="Malgun Gothic"/>
              </a:defRPr>
            </a:pPr>
            <a:r>
              <a:rPr sz="2175" b="1">
                <a:solidFill>
                  <a:srgbClr val="152C3D"/>
                </a:solidFill>
                <a:latin typeface="Malgun Gothic"/>
                <a:ea typeface="Malgun Gothic"/>
                <a:cs typeface="Malgun Gothic"/>
              </a:rPr>
              <a:t>최대-최소는 큰 폭을, RMS는 구간 전반의 크기를 평가</a:t>
            </a:r>
          </a:p>
        </p:txBody>
      </p:sp>
      <p:sp>
        <p:nvSpPr>
          <p:cNvPr id="11" name="설명용 4개 샘플. 정상 기준 보정 필요. 단발 충격도 R">
            <a:extLst xmlns:a="http://schemas.openxmlformats.org/drawingml/2006/main">
              <a:ext uri="{FF2B5EF4-FFF2-40B4-BE49-F238E27FC236}">
                <a16:creationId xmlns:a16="http://schemas.microsoft.com/office/drawing/2014/main" id="{167E43A0-2D27-46D4-A6BB-327D6C7460E8}"/>
              </a:ext>
            </a:extLst>
          </p:cNvPr>
          <p:cNvSpPr>
            <a:spLocks xmlns:a="http://schemas.openxmlformats.org/drawingml/2006/main" noGrp="1"/>
          </p:cNvSpPr>
          <p:nvPr/>
        </p:nvSpPr>
        <p:spPr>
          <a:xfrm xmlns:a="http://schemas.openxmlformats.org/drawingml/2006/main">
            <a:off x="609600" y="61245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773"/>
                </a:solidFill>
                <a:latin typeface="Malgun Gothic"/>
                <a:ea typeface="Malgun Gothic"/>
                <a:cs typeface="Malgun Gothic"/>
              </a:defRPr>
            </a:defPPr>
          </a:lstStyle>
          <a:p xmlns:a="http://schemas.openxmlformats.org/drawingml/2006/main">
            <a:pPr>
              <a:defRPr sz="1500" b="0">
                <a:solidFill>
                  <a:srgbClr val="526773"/>
                </a:solidFill>
                <a:latin typeface="Malgun Gothic"/>
                <a:ea typeface="Malgun Gothic"/>
                <a:cs typeface="Malgun Gothic"/>
              </a:defRPr>
            </a:pPr>
            <a:r>
              <a:rPr sz="1500" b="0">
                <a:solidFill>
                  <a:srgbClr val="526773"/>
                </a:solidFill>
                <a:latin typeface="Malgun Gothic"/>
                <a:ea typeface="Malgun Gothic"/>
                <a:cs typeface="Malgun Gothic"/>
              </a:rPr>
              <a:t>설명용 4개 샘플. 정상 기준 보정 필요. 단발 충격도 RMS를 올릴 수 있음</a:t>
            </a:r>
          </a:p>
        </p:txBody>
      </p:sp>
    </p:spTree>
    <p:extLst>
      <p:ext uri="{BB962C8B-B14F-4D97-AF65-F5344CB8AC3E}">
        <p14:creationId xmlns:p14="http://schemas.microsoft.com/office/powerpoint/2010/main" val="795383672"/>
      </p:ext>
    </p:extLst>
  </p:cSld>
</p:sld>
</file>

<file path=ppt/slides/slide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0" name="구간 계산 결과로 전송을 결정하는 과정">
            <a:extLst xmlns:a="http://schemas.openxmlformats.org/drawingml/2006/main">
              <a:ext uri="{FF2B5EF4-FFF2-40B4-BE49-F238E27FC236}">
                <a16:creationId xmlns:a16="http://schemas.microsoft.com/office/drawing/2014/main" id="{20C1C887-9E59-4364-9E07-07266B17764A}"/>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구간 계산 결과로 전송을 결정하는 과정</a:t>
            </a:r>
          </a:p>
        </p:txBody>
      </p:sp>
      <p:sp>
        <p:nvSpPr>
          <p:cNvPr id="2" name="08">
            <a:extLst xmlns:a="http://schemas.openxmlformats.org/drawingml/2006/main">
              <a:ext uri="{FF2B5EF4-FFF2-40B4-BE49-F238E27FC236}">
                <a16:creationId xmlns:a16="http://schemas.microsoft.com/office/drawing/2014/main" id="{DD3B245A-BC5C-47AB-A291-027B404FE04C}"/>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08</a:t>
            </a:r>
          </a:p>
        </p:txBody>
      </p:sp>
      <p:sp>
        <p:nvSpPr>
          <p:cNvPr id="3" name="1. 정상 기준 수집">
            <a:extLst xmlns:a="http://schemas.openxmlformats.org/drawingml/2006/main">
              <a:ext uri="{FF2B5EF4-FFF2-40B4-BE49-F238E27FC236}">
                <a16:creationId xmlns:a16="http://schemas.microsoft.com/office/drawing/2014/main" id="{F38E79E6-DAED-40FE-B07B-9FB834A9275F}"/>
              </a:ext>
            </a:extLst>
          </p:cNvPr>
          <p:cNvSpPr>
            <a:spLocks xmlns:a="http://schemas.openxmlformats.org/drawingml/2006/main" noGrp="1"/>
          </p:cNvSpPr>
          <p:nvPr/>
        </p:nvSpPr>
        <p:spPr>
          <a:xfrm xmlns:a="http://schemas.openxmlformats.org/drawingml/2006/main">
            <a:off x="609600" y="163830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87E82"/>
                </a:solidFill>
                <a:latin typeface="Malgun Gothic"/>
                <a:ea typeface="Malgun Gothic"/>
                <a:cs typeface="Malgun Gothic"/>
              </a:defRPr>
            </a:defPPr>
          </a:lstStyle>
          <a:p xmlns:a="http://schemas.openxmlformats.org/drawingml/2006/main">
            <a:pPr>
              <a:defRPr sz="2250" b="1">
                <a:solidFill>
                  <a:srgbClr val="087E82"/>
                </a:solidFill>
                <a:latin typeface="Malgun Gothic"/>
                <a:ea typeface="Malgun Gothic"/>
                <a:cs typeface="Malgun Gothic"/>
              </a:defRPr>
            </a:pPr>
            <a:r>
              <a:rPr sz="2250" b="1">
                <a:solidFill>
                  <a:srgbClr val="087E82"/>
                </a:solidFill>
                <a:latin typeface="Malgun Gothic"/>
                <a:ea typeface="Malgun Gothic"/>
                <a:cs typeface="Malgun Gothic"/>
              </a:rPr>
              <a:t>1. 정상 기준 수집</a:t>
            </a:r>
          </a:p>
        </p:txBody>
      </p:sp>
      <p:sp>
        <p:nvSpPr>
          <p:cNvPr id="4" name="정지·일상 진동의 범위로 기준과 임계값 후보 결정">
            <a:extLst xmlns:a="http://schemas.openxmlformats.org/drawingml/2006/main">
              <a:ext uri="{FF2B5EF4-FFF2-40B4-BE49-F238E27FC236}">
                <a16:creationId xmlns:a16="http://schemas.microsoft.com/office/drawing/2014/main" id="{A6BD7354-2365-46BC-A6BD-65956469F3E0}"/>
              </a:ext>
            </a:extLst>
          </p:cNvPr>
          <p:cNvSpPr>
            <a:spLocks xmlns:a="http://schemas.openxmlformats.org/drawingml/2006/main" noGrp="1"/>
          </p:cNvSpPr>
          <p:nvPr/>
        </p:nvSpPr>
        <p:spPr>
          <a:xfrm xmlns:a="http://schemas.openxmlformats.org/drawingml/2006/main">
            <a:off x="1047750" y="22288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26773"/>
                </a:solidFill>
                <a:latin typeface="Malgun Gothic"/>
                <a:ea typeface="Malgun Gothic"/>
                <a:cs typeface="Malgun Gothic"/>
              </a:defRPr>
            </a:defPPr>
          </a:lstStyle>
          <a:p xmlns:a="http://schemas.openxmlformats.org/drawingml/2006/main">
            <a:pPr>
              <a:defRPr sz="2025" b="0">
                <a:solidFill>
                  <a:srgbClr val="526773"/>
                </a:solidFill>
                <a:latin typeface="Malgun Gothic"/>
                <a:ea typeface="Malgun Gothic"/>
                <a:cs typeface="Malgun Gothic"/>
              </a:defRPr>
            </a:pPr>
            <a:r>
              <a:rPr sz="2025" b="0">
                <a:solidFill>
                  <a:srgbClr val="526773"/>
                </a:solidFill>
                <a:latin typeface="Malgun Gothic"/>
                <a:ea typeface="Malgun Gothic"/>
                <a:cs typeface="Malgun Gothic"/>
              </a:rPr>
              <a:t>정지·일상 진동의 범위로 기준과 임계값 후보 결정</a:t>
            </a:r>
          </a:p>
        </p:txBody>
      </p:sp>
      <p:sp>
        <p:nvSpPr>
          <p:cNvPr id="5" name="2. 구간 특징 계산과 이상 후보 판단">
            <a:extLst xmlns:a="http://schemas.openxmlformats.org/drawingml/2006/main">
              <a:ext uri="{FF2B5EF4-FFF2-40B4-BE49-F238E27FC236}">
                <a16:creationId xmlns:a16="http://schemas.microsoft.com/office/drawing/2014/main" id="{13980558-D0B1-4541-9D41-E62756A44F6B}"/>
              </a:ext>
            </a:extLst>
          </p:cNvPr>
          <p:cNvSpPr>
            <a:spLocks xmlns:a="http://schemas.openxmlformats.org/drawingml/2006/main" noGrp="1"/>
          </p:cNvSpPr>
          <p:nvPr/>
        </p:nvSpPr>
        <p:spPr>
          <a:xfrm xmlns:a="http://schemas.openxmlformats.org/drawingml/2006/main">
            <a:off x="609600" y="31146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52C3D"/>
                </a:solidFill>
                <a:latin typeface="Malgun Gothic"/>
                <a:ea typeface="Malgun Gothic"/>
                <a:cs typeface="Malgun Gothic"/>
              </a:defRPr>
            </a:defPPr>
          </a:lstStyle>
          <a:p xmlns:a="http://schemas.openxmlformats.org/drawingml/2006/main">
            <a:pPr>
              <a:defRPr sz="2250" b="1">
                <a:solidFill>
                  <a:srgbClr val="152C3D"/>
                </a:solidFill>
                <a:latin typeface="Malgun Gothic"/>
                <a:ea typeface="Malgun Gothic"/>
                <a:cs typeface="Malgun Gothic"/>
              </a:defRPr>
            </a:pPr>
            <a:r>
              <a:rPr sz="2250" b="1">
                <a:solidFill>
                  <a:srgbClr val="152C3D"/>
                </a:solidFill>
                <a:latin typeface="Malgun Gothic"/>
                <a:ea typeface="Malgun Gothic"/>
                <a:cs typeface="Malgun Gothic"/>
              </a:rPr>
              <a:t>2. 구간 특징 계산과 이상 후보 판단</a:t>
            </a:r>
          </a:p>
        </p:txBody>
      </p:sp>
      <p:sp>
        <p:nvSpPr>
          <p:cNvPr id="6" name="축별 최대-최소와 RMS를 비교하고 필요 시 지속 조건 확">
            <a:extLst xmlns:a="http://schemas.openxmlformats.org/drawingml/2006/main">
              <a:ext uri="{FF2B5EF4-FFF2-40B4-BE49-F238E27FC236}">
                <a16:creationId xmlns:a16="http://schemas.microsoft.com/office/drawing/2014/main" id="{14F7C135-E9CC-43A2-AF4E-9D29A7A450A2}"/>
              </a:ext>
            </a:extLst>
          </p:cNvPr>
          <p:cNvSpPr>
            <a:spLocks xmlns:a="http://schemas.openxmlformats.org/drawingml/2006/main" noGrp="1"/>
          </p:cNvSpPr>
          <p:nvPr/>
        </p:nvSpPr>
        <p:spPr>
          <a:xfrm xmlns:a="http://schemas.openxmlformats.org/drawingml/2006/main">
            <a:off x="1047750" y="372427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26773"/>
                </a:solidFill>
                <a:latin typeface="Malgun Gothic"/>
                <a:ea typeface="Malgun Gothic"/>
                <a:cs typeface="Malgun Gothic"/>
              </a:defRPr>
            </a:defPPr>
          </a:lstStyle>
          <a:p xmlns:a="http://schemas.openxmlformats.org/drawingml/2006/main">
            <a:pPr>
              <a:defRPr sz="2025" b="0">
                <a:solidFill>
                  <a:srgbClr val="526773"/>
                </a:solidFill>
                <a:latin typeface="Malgun Gothic"/>
                <a:ea typeface="Malgun Gothic"/>
                <a:cs typeface="Malgun Gothic"/>
              </a:defRPr>
            </a:pPr>
            <a:r>
              <a:rPr sz="2025" b="0">
                <a:solidFill>
                  <a:srgbClr val="526773"/>
                </a:solidFill>
                <a:latin typeface="Malgun Gothic"/>
                <a:ea typeface="Malgun Gothic"/>
                <a:cs typeface="Malgun Gothic"/>
              </a:rPr>
              <a:t>축별 최대-최소와 RMS를 비교하고 필요 시 지속 조건 확인</a:t>
            </a:r>
          </a:p>
        </p:txBody>
      </p:sp>
      <p:sp>
        <p:nvSpPr>
          <p:cNvPr id="7" name="3. 상태 변화 전송과 관제의 최종 판단">
            <a:extLst xmlns:a="http://schemas.openxmlformats.org/drawingml/2006/main">
              <a:ext uri="{FF2B5EF4-FFF2-40B4-BE49-F238E27FC236}">
                <a16:creationId xmlns:a16="http://schemas.microsoft.com/office/drawing/2014/main" id="{B783EE12-818B-409A-B6B5-866D3D80C933}"/>
              </a:ext>
            </a:extLst>
          </p:cNvPr>
          <p:cNvSpPr>
            <a:spLocks xmlns:a="http://schemas.openxmlformats.org/drawingml/2006/main" noGrp="1"/>
          </p:cNvSpPr>
          <p:nvPr/>
        </p:nvSpPr>
        <p:spPr>
          <a:xfrm xmlns:a="http://schemas.openxmlformats.org/drawingml/2006/main">
            <a:off x="609600" y="4591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D57628"/>
                </a:solidFill>
                <a:latin typeface="Malgun Gothic"/>
                <a:ea typeface="Malgun Gothic"/>
                <a:cs typeface="Malgun Gothic"/>
              </a:defRPr>
            </a:defPPr>
          </a:lstStyle>
          <a:p xmlns:a="http://schemas.openxmlformats.org/drawingml/2006/main">
            <a:pPr>
              <a:defRPr sz="2250" b="1">
                <a:solidFill>
                  <a:srgbClr val="D57628"/>
                </a:solidFill>
                <a:latin typeface="Malgun Gothic"/>
                <a:ea typeface="Malgun Gothic"/>
                <a:cs typeface="Malgun Gothic"/>
              </a:defRPr>
            </a:pPr>
            <a:r>
              <a:rPr sz="2250" b="1">
                <a:solidFill>
                  <a:srgbClr val="D57628"/>
                </a:solidFill>
                <a:latin typeface="Malgun Gothic"/>
                <a:ea typeface="Malgun Gothic"/>
                <a:cs typeface="Malgun Gothic"/>
              </a:rPr>
              <a:t>3. 상태 변화 전송과 관제의 최종 판단</a:t>
            </a:r>
          </a:p>
        </p:txBody>
      </p:sp>
      <p:sp>
        <p:nvSpPr>
          <p:cNvPr id="8" name="이상 시작·회복 전송. 같은 상태의 재전송은 제한">
            <a:extLst xmlns:a="http://schemas.openxmlformats.org/drawingml/2006/main">
              <a:ext uri="{FF2B5EF4-FFF2-40B4-BE49-F238E27FC236}">
                <a16:creationId xmlns:a16="http://schemas.microsoft.com/office/drawing/2014/main" id="{A4CCE4EB-7CC0-4055-9DA0-58E57B18BB4B}"/>
              </a:ext>
            </a:extLst>
          </p:cNvPr>
          <p:cNvSpPr>
            <a:spLocks xmlns:a="http://schemas.openxmlformats.org/drawingml/2006/main" noGrp="1"/>
          </p:cNvSpPr>
          <p:nvPr/>
        </p:nvSpPr>
        <p:spPr>
          <a:xfrm xmlns:a="http://schemas.openxmlformats.org/drawingml/2006/main">
            <a:off x="1047750" y="52006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26773"/>
                </a:solidFill>
                <a:latin typeface="Malgun Gothic"/>
                <a:ea typeface="Malgun Gothic"/>
                <a:cs typeface="Malgun Gothic"/>
              </a:defRPr>
            </a:defPPr>
          </a:lstStyle>
          <a:p xmlns:a="http://schemas.openxmlformats.org/drawingml/2006/main">
            <a:pPr>
              <a:defRPr sz="2025" b="0">
                <a:solidFill>
                  <a:srgbClr val="526773"/>
                </a:solidFill>
                <a:latin typeface="Malgun Gothic"/>
                <a:ea typeface="Malgun Gothic"/>
                <a:cs typeface="Malgun Gothic"/>
              </a:defRPr>
            </a:pPr>
            <a:r>
              <a:rPr sz="2025" b="0">
                <a:solidFill>
                  <a:srgbClr val="526773"/>
                </a:solidFill>
                <a:latin typeface="Malgun Gothic"/>
                <a:ea typeface="Malgun Gothic"/>
                <a:cs typeface="Malgun Gothic"/>
              </a:rPr>
              <a:t>이상 시작·회복 전송. 같은 상태의 재전송은 제한</a:t>
            </a:r>
          </a:p>
        </p:txBody>
      </p:sp>
      <p:sp>
        <p:nvSpPr>
          <p:cNvPr id="9" name="센서 이상 후보를 측정 시각에 맞춰 Jetson 영상과 결">
            <a:extLst xmlns:a="http://schemas.openxmlformats.org/drawingml/2006/main">
              <a:ext uri="{FF2B5EF4-FFF2-40B4-BE49-F238E27FC236}">
                <a16:creationId xmlns:a16="http://schemas.microsoft.com/office/drawing/2014/main" id="{23CB79CE-9D93-456E-999B-3ABDF343FC15}"/>
              </a:ext>
            </a:extLst>
          </p:cNvPr>
          <p:cNvSpPr>
            <a:spLocks xmlns:a="http://schemas.openxmlformats.org/drawingml/2006/main" noGrp="1"/>
          </p:cNvSpPr>
          <p:nvPr/>
        </p:nvSpPr>
        <p:spPr>
          <a:xfrm xmlns:a="http://schemas.openxmlformats.org/drawingml/2006/main">
            <a:off x="609600" y="61245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52C3D"/>
                </a:solidFill>
                <a:latin typeface="Malgun Gothic"/>
                <a:ea typeface="Malgun Gothic"/>
                <a:cs typeface="Malgun Gothic"/>
              </a:defRPr>
            </a:defPPr>
          </a:lstStyle>
          <a:p xmlns:a="http://schemas.openxmlformats.org/drawingml/2006/main">
            <a:pPr>
              <a:defRPr sz="1725" b="0">
                <a:solidFill>
                  <a:srgbClr val="152C3D"/>
                </a:solidFill>
                <a:latin typeface="Malgun Gothic"/>
                <a:ea typeface="Malgun Gothic"/>
                <a:cs typeface="Malgun Gothic"/>
              </a:defRPr>
            </a:pPr>
            <a:r>
              <a:rPr sz="1725" b="0">
                <a:solidFill>
                  <a:srgbClr val="152C3D"/>
                </a:solidFill>
                <a:latin typeface="Malgun Gothic"/>
                <a:ea typeface="Malgun Gothic"/>
                <a:cs typeface="Malgun Gothic"/>
              </a:rPr>
              <a:t>센서 이상 후보를 측정 시각에 맞춰 Jetson 영상과 결합</a:t>
            </a:r>
          </a:p>
        </p:txBody>
      </p:sp>
    </p:spTree>
    <p:extLst>
      <p:ext uri="{BB962C8B-B14F-4D97-AF65-F5344CB8AC3E}">
        <p14:creationId xmlns:p14="http://schemas.microsoft.com/office/powerpoint/2010/main" val="1293838976"/>
      </p:ext>
    </p:extLst>
  </p:cSld>
</p:sld>
</file>

<file path=ppt/slides/slide9.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0" name="FIR/IIR 미적용의 설계 근거">
            <a:extLst xmlns:a="http://schemas.openxmlformats.org/drawingml/2006/main">
              <a:ext uri="{FF2B5EF4-FFF2-40B4-BE49-F238E27FC236}">
                <a16:creationId xmlns:a16="http://schemas.microsoft.com/office/drawing/2014/main" id="{FE71D3D7-2222-4492-9D18-E80A6CE57EF9}"/>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FIR/IIR 미적용의 설계 근거</a:t>
            </a:r>
          </a:p>
        </p:txBody>
      </p:sp>
      <p:sp>
        <p:nvSpPr>
          <p:cNvPr id="2" name="09">
            <a:extLst xmlns:a="http://schemas.openxmlformats.org/drawingml/2006/main">
              <a:ext uri="{FF2B5EF4-FFF2-40B4-BE49-F238E27FC236}">
                <a16:creationId xmlns:a16="http://schemas.microsoft.com/office/drawing/2014/main" id="{1027F472-AABE-4EAC-8EE6-A9590CD31D4D}"/>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09</a:t>
            </a:r>
          </a:p>
        </p:txBody>
      </p:sp>
      <p:sp>
        <p:nvSpPr>
          <p:cNvPr id="3" name="작은 변화·짧은 진동의 관측 우선">
            <a:extLst xmlns:a="http://schemas.openxmlformats.org/drawingml/2006/main">
              <a:ext uri="{FF2B5EF4-FFF2-40B4-BE49-F238E27FC236}">
                <a16:creationId xmlns:a16="http://schemas.microsoft.com/office/drawing/2014/main" id="{5D3FED54-53AF-4BF4-B3F4-0A38C3CCF628}"/>
              </a:ext>
            </a:extLst>
          </p:cNvPr>
          <p:cNvSpPr>
            <a:spLocks xmlns:a="http://schemas.openxmlformats.org/drawingml/2006/main" noGrp="1"/>
          </p:cNvSpPr>
          <p:nvPr/>
        </p:nvSpPr>
        <p:spPr>
          <a:xfrm xmlns:a="http://schemas.openxmlformats.org/drawingml/2006/main">
            <a:off x="609600" y="165735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87E82"/>
                </a:solidFill>
                <a:latin typeface="Malgun Gothic"/>
                <a:ea typeface="Malgun Gothic"/>
                <a:cs typeface="Malgun Gothic"/>
              </a:defRPr>
            </a:defPPr>
          </a:lstStyle>
          <a:p xmlns:a="http://schemas.openxmlformats.org/drawingml/2006/main">
            <a:pPr>
              <a:defRPr sz="2700" b="1">
                <a:solidFill>
                  <a:srgbClr val="087E82"/>
                </a:solidFill>
                <a:latin typeface="Malgun Gothic"/>
                <a:ea typeface="Malgun Gothic"/>
                <a:cs typeface="Malgun Gothic"/>
              </a:defRPr>
            </a:pPr>
            <a:r>
              <a:rPr sz="2700" b="1">
                <a:solidFill>
                  <a:srgbClr val="087E82"/>
                </a:solidFill>
                <a:latin typeface="Malgun Gothic"/>
                <a:ea typeface="Malgun Gothic"/>
                <a:cs typeface="Malgun Gothic"/>
              </a:rPr>
              <a:t>작은 변화·짧은 진동의 관측 우선</a:t>
            </a:r>
          </a:p>
        </p:txBody>
      </p:sp>
      <p:sp>
        <p:nvSpPr>
          <p:cNvPr id="4" name="신호 감쇠 가능성">
            <a:extLst xmlns:a="http://schemas.openxmlformats.org/drawingml/2006/main">
              <a:ext uri="{FF2B5EF4-FFF2-40B4-BE49-F238E27FC236}">
                <a16:creationId xmlns:a16="http://schemas.microsoft.com/office/drawing/2014/main" id="{8D7930AF-FEF8-44CA-883E-C59873A5A33B}"/>
              </a:ext>
            </a:extLst>
          </p:cNvPr>
          <p:cNvSpPr>
            <a:spLocks xmlns:a="http://schemas.openxmlformats.org/drawingml/2006/main" noGrp="1"/>
          </p:cNvSpPr>
          <p:nvPr/>
        </p:nvSpPr>
        <p:spPr>
          <a:xfrm xmlns:a="http://schemas.openxmlformats.org/drawingml/2006/main">
            <a:off x="609600" y="27622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52C3D"/>
                </a:solidFill>
                <a:latin typeface="Malgun Gothic"/>
                <a:ea typeface="Malgun Gothic"/>
                <a:cs typeface="Malgun Gothic"/>
              </a:defRPr>
            </a:defPPr>
          </a:lstStyle>
          <a:p xmlns:a="http://schemas.openxmlformats.org/drawingml/2006/main">
            <a:pPr>
              <a:defRPr sz="2325" b="1">
                <a:solidFill>
                  <a:srgbClr val="152C3D"/>
                </a:solidFill>
                <a:latin typeface="Malgun Gothic"/>
                <a:ea typeface="Malgun Gothic"/>
                <a:cs typeface="Malgun Gothic"/>
              </a:defRPr>
            </a:pPr>
            <a:r>
              <a:rPr sz="2325" b="1">
                <a:solidFill>
                  <a:srgbClr val="152C3D"/>
                </a:solidFill>
                <a:latin typeface="Malgun Gothic"/>
                <a:ea typeface="Malgun Gothic"/>
                <a:cs typeface="Malgun Gothic"/>
              </a:rPr>
              <a:t>신호 감쇠 가능성</a:t>
            </a:r>
          </a:p>
        </p:txBody>
      </p:sp>
      <p:sp>
        <p:nvSpPr>
          <p:cNvPr id="5" name="검증하지 않은 평활화 설정은&#10;짧은 피크를 줄일 수 있음">
            <a:extLst xmlns:a="http://schemas.openxmlformats.org/drawingml/2006/main">
              <a:ext uri="{FF2B5EF4-FFF2-40B4-BE49-F238E27FC236}">
                <a16:creationId xmlns:a16="http://schemas.microsoft.com/office/drawing/2014/main" id="{108CD674-E258-4601-80DE-931CD1AAB982}"/>
              </a:ext>
            </a:extLst>
          </p:cNvPr>
          <p:cNvSpPr>
            <a:spLocks xmlns:a="http://schemas.openxmlformats.org/drawingml/2006/main" noGrp="1"/>
          </p:cNvSpPr>
          <p:nvPr/>
        </p:nvSpPr>
        <p:spPr>
          <a:xfrm xmlns:a="http://schemas.openxmlformats.org/drawingml/2006/main">
            <a:off x="609600" y="3476625"/>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26773"/>
                </a:solidFill>
                <a:latin typeface="Malgun Gothic"/>
                <a:ea typeface="Malgun Gothic"/>
                <a:cs typeface="Malgun Gothic"/>
              </a:defRPr>
            </a:defPPr>
          </a:lstStyle>
          <a:p xmlns:a="http://schemas.openxmlformats.org/drawingml/2006/main">
            <a:pPr>
              <a:defRPr sz="2100" b="0">
                <a:solidFill>
                  <a:srgbClr val="526773"/>
                </a:solidFill>
                <a:latin typeface="Malgun Gothic"/>
                <a:ea typeface="Malgun Gothic"/>
                <a:cs typeface="Malgun Gothic"/>
              </a:defRPr>
            </a:pPr>
            <a:r>
              <a:rPr sz="2100" b="0">
                <a:solidFill>
                  <a:srgbClr val="526773"/>
                </a:solidFill>
                <a:latin typeface="Malgun Gothic"/>
                <a:ea typeface="Malgun Gothic"/>
                <a:cs typeface="Malgun Gothic"/>
              </a:rPr>
              <a:t>검증하지 않은 평활화 설정은</a:t>
            </a:r>
          </a:p>
          <a:p xmlns:a="http://schemas.openxmlformats.org/drawingml/2006/main">
            <a:pPr>
              <a:defRPr sz="2100" b="0">
                <a:solidFill>
                  <a:srgbClr val="526773"/>
                </a:solidFill>
                <a:latin typeface="Malgun Gothic"/>
                <a:ea typeface="Malgun Gothic"/>
                <a:cs typeface="Malgun Gothic"/>
              </a:defRPr>
            </a:pPr>
            <a:r>
              <a:rPr sz="2100" b="0">
                <a:solidFill>
                  <a:srgbClr val="526773"/>
                </a:solidFill>
                <a:latin typeface="Malgun Gothic"/>
                <a:ea typeface="Malgun Gothic"/>
                <a:cs typeface="Malgun Gothic"/>
              </a:rPr>
              <a:t>짧은 피크를 줄일 수 있음</a:t>
            </a:r>
          </a:p>
        </p:txBody>
      </p:sp>
      <p:sp>
        <p:nvSpPr>
          <p:cNvPr id="6" name="추가 판정 지연 가능성">
            <a:extLst xmlns:a="http://schemas.openxmlformats.org/drawingml/2006/main">
              <a:ext uri="{FF2B5EF4-FFF2-40B4-BE49-F238E27FC236}">
                <a16:creationId xmlns:a16="http://schemas.microsoft.com/office/drawing/2014/main" id="{E87846B4-D8C0-41E9-82BA-B16EEDF5F3E5}"/>
              </a:ext>
            </a:extLst>
          </p:cNvPr>
          <p:cNvSpPr>
            <a:spLocks xmlns:a="http://schemas.openxmlformats.org/drawingml/2006/main" noGrp="1"/>
          </p:cNvSpPr>
          <p:nvPr/>
        </p:nvSpPr>
        <p:spPr>
          <a:xfrm xmlns:a="http://schemas.openxmlformats.org/drawingml/2006/main">
            <a:off x="6477000" y="276225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52C3D"/>
                </a:solidFill>
                <a:latin typeface="Malgun Gothic"/>
                <a:ea typeface="Malgun Gothic"/>
                <a:cs typeface="Malgun Gothic"/>
              </a:defRPr>
            </a:defPPr>
          </a:lstStyle>
          <a:p xmlns:a="http://schemas.openxmlformats.org/drawingml/2006/main">
            <a:pPr>
              <a:defRPr sz="2325" b="1">
                <a:solidFill>
                  <a:srgbClr val="152C3D"/>
                </a:solidFill>
                <a:latin typeface="Malgun Gothic"/>
                <a:ea typeface="Malgun Gothic"/>
                <a:cs typeface="Malgun Gothic"/>
              </a:defRPr>
            </a:pPr>
            <a:r>
              <a:rPr sz="2325" b="1">
                <a:solidFill>
                  <a:srgbClr val="152C3D"/>
                </a:solidFill>
                <a:latin typeface="Malgun Gothic"/>
                <a:ea typeface="Malgun Gothic"/>
                <a:cs typeface="Malgun Gothic"/>
              </a:rPr>
              <a:t>추가 판정 지연 가능성</a:t>
            </a:r>
          </a:p>
        </p:txBody>
      </p:sp>
      <p:sp>
        <p:nvSpPr>
          <p:cNvPr id="7" name="필터 종류와 설정에 따라&#10;주파수별 지연이 발생할 수 있음">
            <a:extLst xmlns:a="http://schemas.openxmlformats.org/drawingml/2006/main">
              <a:ext uri="{FF2B5EF4-FFF2-40B4-BE49-F238E27FC236}">
                <a16:creationId xmlns:a16="http://schemas.microsoft.com/office/drawing/2014/main" id="{812BFB5A-34BC-4BBB-A7DE-3155EC01984C}"/>
              </a:ext>
            </a:extLst>
          </p:cNvPr>
          <p:cNvSpPr>
            <a:spLocks xmlns:a="http://schemas.openxmlformats.org/drawingml/2006/main" noGrp="1"/>
          </p:cNvSpPr>
          <p:nvPr/>
        </p:nvSpPr>
        <p:spPr>
          <a:xfrm xmlns:a="http://schemas.openxmlformats.org/drawingml/2006/main">
            <a:off x="6477000" y="3476625"/>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26773"/>
                </a:solidFill>
                <a:latin typeface="Malgun Gothic"/>
                <a:ea typeface="Malgun Gothic"/>
                <a:cs typeface="Malgun Gothic"/>
              </a:defRPr>
            </a:defPPr>
          </a:lstStyle>
          <a:p xmlns:a="http://schemas.openxmlformats.org/drawingml/2006/main">
            <a:pPr>
              <a:defRPr sz="2100" b="0">
                <a:solidFill>
                  <a:srgbClr val="526773"/>
                </a:solidFill>
                <a:latin typeface="Malgun Gothic"/>
                <a:ea typeface="Malgun Gothic"/>
                <a:cs typeface="Malgun Gothic"/>
              </a:defRPr>
            </a:pPr>
            <a:r>
              <a:rPr sz="2100" b="0">
                <a:solidFill>
                  <a:srgbClr val="526773"/>
                </a:solidFill>
                <a:latin typeface="Malgun Gothic"/>
                <a:ea typeface="Malgun Gothic"/>
                <a:cs typeface="Malgun Gothic"/>
              </a:rPr>
              <a:t>필터 종류와 설정에 따라</a:t>
            </a:r>
          </a:p>
          <a:p xmlns:a="http://schemas.openxmlformats.org/drawingml/2006/main">
            <a:pPr>
              <a:defRPr sz="2100" b="0">
                <a:solidFill>
                  <a:srgbClr val="526773"/>
                </a:solidFill>
                <a:latin typeface="Malgun Gothic"/>
                <a:ea typeface="Malgun Gothic"/>
                <a:cs typeface="Malgun Gothic"/>
              </a:defRPr>
            </a:pPr>
            <a:r>
              <a:rPr sz="2100" b="0">
                <a:solidFill>
                  <a:srgbClr val="526773"/>
                </a:solidFill>
                <a:latin typeface="Malgun Gothic"/>
                <a:ea typeface="Malgun Gothic"/>
                <a:cs typeface="Malgun Gothic"/>
              </a:rPr>
              <a:t>주파수별 지연이 발생할 수 있음</a:t>
            </a:r>
          </a:p>
        </p:txBody>
      </p:sp>
      <p:sp>
        <p:nvSpPr>
          <p:cNvPr id="8" name="잡음에 의한 오탐은 미적용의 비용">
            <a:extLst xmlns:a="http://schemas.openxmlformats.org/drawingml/2006/main">
              <a:ext uri="{FF2B5EF4-FFF2-40B4-BE49-F238E27FC236}">
                <a16:creationId xmlns:a16="http://schemas.microsoft.com/office/drawing/2014/main" id="{51E94209-8B29-4C33-A2CC-2F6379714A9B}"/>
              </a:ext>
            </a:extLst>
          </p:cNvPr>
          <p:cNvSpPr>
            <a:spLocks xmlns:a="http://schemas.openxmlformats.org/drawingml/2006/main" noGrp="1"/>
          </p:cNvSpPr>
          <p:nvPr/>
        </p:nvSpPr>
        <p:spPr>
          <a:xfrm xmlns:a="http://schemas.openxmlformats.org/drawingml/2006/main">
            <a:off x="609600" y="512445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D57628"/>
                </a:solidFill>
                <a:latin typeface="Malgun Gothic"/>
                <a:ea typeface="Malgun Gothic"/>
                <a:cs typeface="Malgun Gothic"/>
              </a:defRPr>
            </a:defPPr>
          </a:lstStyle>
          <a:p xmlns:a="http://schemas.openxmlformats.org/drawingml/2006/main">
            <a:pPr>
              <a:defRPr sz="2325" b="1">
                <a:solidFill>
                  <a:srgbClr val="D57628"/>
                </a:solidFill>
                <a:latin typeface="Malgun Gothic"/>
                <a:ea typeface="Malgun Gothic"/>
                <a:cs typeface="Malgun Gothic"/>
              </a:defRPr>
            </a:pPr>
            <a:r>
              <a:rPr sz="2325" b="1">
                <a:solidFill>
                  <a:srgbClr val="D57628"/>
                </a:solidFill>
                <a:latin typeface="Malgun Gothic"/>
                <a:ea typeface="Malgun Gothic"/>
                <a:cs typeface="Malgun Gothic"/>
              </a:rPr>
              <a:t>잡음에 의한 오탐은 미적용의 비용</a:t>
            </a:r>
          </a:p>
        </p:txBody>
      </p:sp>
      <p:sp>
        <p:nvSpPr>
          <p:cNvPr id="9" name="빠른 취득 확보 후, 필터 전후 미탐·오탐·지연을 비교해 ">
            <a:extLst xmlns:a="http://schemas.openxmlformats.org/drawingml/2006/main">
              <a:ext uri="{FF2B5EF4-FFF2-40B4-BE49-F238E27FC236}">
                <a16:creationId xmlns:a16="http://schemas.microsoft.com/office/drawing/2014/main" id="{50E639DB-7E27-4D12-8C75-05CE6EBFF4D8}"/>
              </a:ext>
            </a:extLst>
          </p:cNvPr>
          <p:cNvSpPr>
            <a:spLocks xmlns:a="http://schemas.openxmlformats.org/drawingml/2006/main" noGrp="1"/>
          </p:cNvSpPr>
          <p:nvPr/>
        </p:nvSpPr>
        <p:spPr>
          <a:xfrm xmlns:a="http://schemas.openxmlformats.org/drawingml/2006/main">
            <a:off x="609600" y="59531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26773"/>
                </a:solidFill>
                <a:latin typeface="Malgun Gothic"/>
                <a:ea typeface="Malgun Gothic"/>
                <a:cs typeface="Malgun Gothic"/>
              </a:defRPr>
            </a:defPPr>
          </a:lstStyle>
          <a:p xmlns:a="http://schemas.openxmlformats.org/drawingml/2006/main">
            <a:pPr>
              <a:defRPr sz="1800" b="0">
                <a:solidFill>
                  <a:srgbClr val="526773"/>
                </a:solidFill>
                <a:latin typeface="Malgun Gothic"/>
                <a:ea typeface="Malgun Gothic"/>
                <a:cs typeface="Malgun Gothic"/>
              </a:defRPr>
            </a:pPr>
            <a:r>
              <a:rPr sz="1800" b="0">
                <a:solidFill>
                  <a:srgbClr val="526773"/>
                </a:solidFill>
                <a:latin typeface="Malgun Gothic"/>
                <a:ea typeface="Malgun Gothic"/>
                <a:cs typeface="Malgun Gothic"/>
              </a:rPr>
              <a:t>빠른 취득 확보 후, 필터 전후 미탐·오탐·지연을 비교해 도입 결정</a:t>
            </a:r>
          </a:p>
        </p:txBody>
      </p:sp>
    </p:spTree>
    <p:extLst>
      <p:ext uri="{BB962C8B-B14F-4D97-AF65-F5344CB8AC3E}">
        <p14:creationId xmlns:p14="http://schemas.microsoft.com/office/powerpoint/2010/main" val="1115592767"/>
      </p:ext>
    </p:extLst>
  </p:cSld>
</p:sld>
</file>

<file path=ppt/slides/slide10.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9" name="구현과 검증 계획">
            <a:extLst xmlns:a="http://schemas.openxmlformats.org/drawingml/2006/main">
              <a:ext uri="{FF2B5EF4-FFF2-40B4-BE49-F238E27FC236}">
                <a16:creationId xmlns:a16="http://schemas.microsoft.com/office/drawing/2014/main" id="{2E9889D7-D764-4F26-93FF-42AC217AB139}"/>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구현과 검증 계획</a:t>
            </a:r>
          </a:p>
        </p:txBody>
      </p:sp>
      <p:sp>
        <p:nvSpPr>
          <p:cNvPr id="2" name="10">
            <a:extLst xmlns:a="http://schemas.openxmlformats.org/drawingml/2006/main">
              <a:ext uri="{FF2B5EF4-FFF2-40B4-BE49-F238E27FC236}">
                <a16:creationId xmlns:a16="http://schemas.microsoft.com/office/drawing/2014/main" id="{8827F6E1-94B4-4B66-90BD-7B751AC6197C}"/>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10</a:t>
            </a:r>
          </a:p>
        </p:txBody>
      </p:sp>
      <p:sp>
        <p:nvSpPr>
          <p:cNvPr id="3" name="구현">
            <a:extLst xmlns:a="http://schemas.openxmlformats.org/drawingml/2006/main">
              <a:ext uri="{FF2B5EF4-FFF2-40B4-BE49-F238E27FC236}">
                <a16:creationId xmlns:a16="http://schemas.microsoft.com/office/drawing/2014/main" id="{F89E4898-4477-42B9-A591-1514370CE389}"/>
              </a:ext>
            </a:extLst>
          </p:cNvPr>
          <p:cNvSpPr>
            <a:spLocks xmlns:a="http://schemas.openxmlformats.org/drawingml/2006/main" noGrp="1"/>
          </p:cNvSpPr>
          <p:nvPr/>
        </p:nvSpPr>
        <p:spPr>
          <a:xfrm xmlns:a="http://schemas.openxmlformats.org/drawingml/2006/main">
            <a:off x="609600" y="1685925"/>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87E82"/>
                </a:solidFill>
                <a:latin typeface="Malgun Gothic"/>
                <a:ea typeface="Malgun Gothic"/>
                <a:cs typeface="Malgun Gothic"/>
              </a:defRPr>
            </a:defPPr>
          </a:lstStyle>
          <a:p xmlns:a="http://schemas.openxmlformats.org/drawingml/2006/main">
            <a:pPr>
              <a:defRPr sz="2550" b="1">
                <a:solidFill>
                  <a:srgbClr val="087E82"/>
                </a:solidFill>
                <a:latin typeface="Malgun Gothic"/>
                <a:ea typeface="Malgun Gothic"/>
                <a:cs typeface="Malgun Gothic"/>
              </a:defRPr>
            </a:pPr>
            <a:r>
              <a:rPr sz="2550" b="1">
                <a:solidFill>
                  <a:srgbClr val="087E82"/>
                </a:solidFill>
                <a:latin typeface="Malgun Gothic"/>
                <a:ea typeface="Malgun Gothic"/>
                <a:cs typeface="Malgun Gothic"/>
              </a:rPr>
              <a:t>구현</a:t>
            </a:r>
          </a:p>
        </p:txBody>
      </p:sp>
      <p:sp>
        <p:nvSpPr>
          <p:cNvPr id="4" name="빠른 취득 작업과 통신 작업 분리&#10;구간 특징·측정 시각·순">
            <a:extLst xmlns:a="http://schemas.openxmlformats.org/drawingml/2006/main">
              <a:ext uri="{FF2B5EF4-FFF2-40B4-BE49-F238E27FC236}">
                <a16:creationId xmlns:a16="http://schemas.microsoft.com/office/drawing/2014/main" id="{93CE9332-DF95-4717-A6A4-BBC20F160FF5}"/>
              </a:ext>
            </a:extLst>
          </p:cNvPr>
          <p:cNvSpPr>
            <a:spLocks xmlns:a="http://schemas.openxmlformats.org/drawingml/2006/main" noGrp="1"/>
          </p:cNvSpPr>
          <p:nvPr/>
        </p:nvSpPr>
        <p:spPr>
          <a:xfrm xmlns:a="http://schemas.openxmlformats.org/drawingml/2006/main">
            <a:off x="609600" y="2543175"/>
            <a:ext cx="5238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C3D"/>
                </a:solidFill>
                <a:latin typeface="Malgun Gothic"/>
                <a:ea typeface="Malgun Gothic"/>
                <a:cs typeface="Malgun Gothic"/>
              </a:defRPr>
            </a:defPPr>
          </a:lstStyle>
          <a:p xmlns:a="http://schemas.openxmlformats.org/drawingml/2006/main">
            <a:pPr>
              <a:defRPr sz="2100" b="0">
                <a:solidFill>
                  <a:srgbClr val="152C3D"/>
                </a:solidFill>
                <a:latin typeface="Malgun Gothic"/>
                <a:ea typeface="Malgun Gothic"/>
                <a:cs typeface="Malgun Gothic"/>
              </a:defRPr>
            </a:pPr>
            <a:r>
              <a:rPr sz="2100" b="0">
                <a:solidFill>
                  <a:srgbClr val="152C3D"/>
                </a:solidFill>
                <a:latin typeface="Malgun Gothic"/>
                <a:ea typeface="Malgun Gothic"/>
                <a:cs typeface="Malgun Gothic"/>
              </a:rPr>
              <a:t>빠른 취득 작업과 통신 작업 분리</a:t>
            </a:r>
          </a:p>
          <a:p xmlns:a="http://schemas.openxmlformats.org/drawingml/2006/main">
            <a:pPr>
              <a:defRPr sz="2100" b="0">
                <a:solidFill>
                  <a:srgbClr val="152C3D"/>
                </a:solidFill>
                <a:latin typeface="Malgun Gothic"/>
                <a:ea typeface="Malgun Gothic"/>
                <a:cs typeface="Malgun Gothic"/>
              </a:defRPr>
            </a:pPr>
            <a:r>
              <a:rPr sz="2100" b="0">
                <a:solidFill>
                  <a:srgbClr val="152C3D"/>
                </a:solidFill>
                <a:latin typeface="Malgun Gothic"/>
                <a:ea typeface="Malgun Gothic"/>
                <a:cs typeface="Malgun Gothic"/>
              </a:rPr>
              <a:t>구간 특징·측정 시각·순번 전송</a:t>
            </a:r>
          </a:p>
          <a:p xmlns:a="http://schemas.openxmlformats.org/drawingml/2006/main">
            <a:pPr>
              <a:defRPr sz="2100" b="0">
                <a:solidFill>
                  <a:srgbClr val="152C3D"/>
                </a:solidFill>
                <a:latin typeface="Malgun Gothic"/>
                <a:ea typeface="Malgun Gothic"/>
                <a:cs typeface="Malgun Gothic"/>
              </a:defRPr>
            </a:pPr>
            <a:r>
              <a:rPr sz="2100" b="0">
                <a:solidFill>
                  <a:srgbClr val="152C3D"/>
                </a:solidFill>
                <a:latin typeface="Malgun Gothic"/>
                <a:ea typeface="Malgun Gothic"/>
                <a:cs typeface="Malgun Gothic"/>
              </a:rPr>
              <a:t>이상 이벤트와 생존 신호 구분</a:t>
            </a:r>
          </a:p>
        </p:txBody>
      </p:sp>
      <p:sp>
        <p:nvSpPr>
          <p:cNvPr id="5" name="검증">
            <a:extLst xmlns:a="http://schemas.openxmlformats.org/drawingml/2006/main">
              <a:ext uri="{FF2B5EF4-FFF2-40B4-BE49-F238E27FC236}">
                <a16:creationId xmlns:a16="http://schemas.microsoft.com/office/drawing/2014/main" id="{16D15403-96E1-47F9-81CE-3A10E8D42FF0}"/>
              </a:ext>
            </a:extLst>
          </p:cNvPr>
          <p:cNvSpPr>
            <a:spLocks xmlns:a="http://schemas.openxmlformats.org/drawingml/2006/main" noGrp="1"/>
          </p:cNvSpPr>
          <p:nvPr/>
        </p:nvSpPr>
        <p:spPr>
          <a:xfrm xmlns:a="http://schemas.openxmlformats.org/drawingml/2006/main">
            <a:off x="6477000" y="1685925"/>
            <a:ext cx="438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D57628"/>
                </a:solidFill>
                <a:latin typeface="Malgun Gothic"/>
                <a:ea typeface="Malgun Gothic"/>
                <a:cs typeface="Malgun Gothic"/>
              </a:defRPr>
            </a:defPPr>
          </a:lstStyle>
          <a:p xmlns:a="http://schemas.openxmlformats.org/drawingml/2006/main">
            <a:pPr>
              <a:defRPr sz="2550" b="1">
                <a:solidFill>
                  <a:srgbClr val="D57628"/>
                </a:solidFill>
                <a:latin typeface="Malgun Gothic"/>
                <a:ea typeface="Malgun Gothic"/>
                <a:cs typeface="Malgun Gothic"/>
              </a:defRPr>
            </a:pPr>
            <a:r>
              <a:rPr sz="2550" b="1">
                <a:solidFill>
                  <a:srgbClr val="D57628"/>
                </a:solidFill>
                <a:latin typeface="Malgun Gothic"/>
                <a:ea typeface="Malgun Gothic"/>
                <a:cs typeface="Malgun Gothic"/>
              </a:rPr>
              <a:t>검증</a:t>
            </a:r>
          </a:p>
        </p:txBody>
      </p:sp>
      <p:sp>
        <p:nvSpPr>
          <p:cNvPr id="6" name="1초 사이의 짧은 흔들림 재현&#10;송신 중 샘플 간격·누락 확">
            <a:extLst xmlns:a="http://schemas.openxmlformats.org/drawingml/2006/main">
              <a:ext uri="{FF2B5EF4-FFF2-40B4-BE49-F238E27FC236}">
                <a16:creationId xmlns:a16="http://schemas.microsoft.com/office/drawing/2014/main" id="{A9F10740-1C10-4614-948B-7B6CE533B418}"/>
              </a:ext>
            </a:extLst>
          </p:cNvPr>
          <p:cNvSpPr>
            <a:spLocks xmlns:a="http://schemas.openxmlformats.org/drawingml/2006/main" noGrp="1"/>
          </p:cNvSpPr>
          <p:nvPr/>
        </p:nvSpPr>
        <p:spPr>
          <a:xfrm xmlns:a="http://schemas.openxmlformats.org/drawingml/2006/main">
            <a:off x="6477000" y="2543175"/>
            <a:ext cx="5238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C3D"/>
                </a:solidFill>
                <a:latin typeface="Malgun Gothic"/>
                <a:ea typeface="Malgun Gothic"/>
                <a:cs typeface="Malgun Gothic"/>
              </a:defRPr>
            </a:defPPr>
          </a:lstStyle>
          <a:p xmlns:a="http://schemas.openxmlformats.org/drawingml/2006/main">
            <a:pPr>
              <a:defRPr sz="2100" b="0">
                <a:solidFill>
                  <a:srgbClr val="152C3D"/>
                </a:solidFill>
                <a:latin typeface="Malgun Gothic"/>
                <a:ea typeface="Malgun Gothic"/>
                <a:cs typeface="Malgun Gothic"/>
              </a:defRPr>
            </a:pPr>
            <a:r>
              <a:rPr sz="2100" b="0">
                <a:solidFill>
                  <a:srgbClr val="152C3D"/>
                </a:solidFill>
                <a:latin typeface="Malgun Gothic"/>
                <a:ea typeface="Malgun Gothic"/>
                <a:cs typeface="Malgun Gothic"/>
              </a:rPr>
              <a:t>1초 사이의 짧은 흔들림 재현</a:t>
            </a:r>
          </a:p>
          <a:p xmlns:a="http://schemas.openxmlformats.org/drawingml/2006/main">
            <a:pPr>
              <a:defRPr sz="2100" b="0">
                <a:solidFill>
                  <a:srgbClr val="152C3D"/>
                </a:solidFill>
                <a:latin typeface="Malgun Gothic"/>
                <a:ea typeface="Malgun Gothic"/>
                <a:cs typeface="Malgun Gothic"/>
              </a:defRPr>
            </a:pPr>
            <a:r>
              <a:rPr sz="2100" b="0">
                <a:solidFill>
                  <a:srgbClr val="152C3D"/>
                </a:solidFill>
                <a:latin typeface="Malgun Gothic"/>
                <a:ea typeface="Malgun Gothic"/>
                <a:cs typeface="Malgun Gothic"/>
              </a:rPr>
              <a:t>송신 중 샘플 간격·누락 확인</a:t>
            </a:r>
          </a:p>
          <a:p xmlns:a="http://schemas.openxmlformats.org/drawingml/2006/main">
            <a:pPr>
              <a:defRPr sz="2100" b="0">
                <a:solidFill>
                  <a:srgbClr val="152C3D"/>
                </a:solidFill>
                <a:latin typeface="Malgun Gothic"/>
                <a:ea typeface="Malgun Gothic"/>
                <a:cs typeface="Malgun Gothic"/>
              </a:defRPr>
            </a:pPr>
            <a:r>
              <a:rPr sz="2100" b="0">
                <a:solidFill>
                  <a:srgbClr val="152C3D"/>
                </a:solidFill>
                <a:latin typeface="Malgun Gothic"/>
                <a:ea typeface="Malgun Gothic"/>
                <a:cs typeface="Malgun Gothic"/>
              </a:rPr>
              <a:t>미탐률·종단 지연·메시지 수 비교</a:t>
            </a:r>
          </a:p>
        </p:txBody>
      </p:sp>
      <p:sp>
        <p:nvSpPr>
          <p:cNvPr id="7" name="기대 효과: 중간 변화 보존과 불필요한 전송 감소">
            <a:extLst xmlns:a="http://schemas.openxmlformats.org/drawingml/2006/main">
              <a:ext uri="{FF2B5EF4-FFF2-40B4-BE49-F238E27FC236}">
                <a16:creationId xmlns:a16="http://schemas.microsoft.com/office/drawing/2014/main" id="{DD56FAF6-EBBD-4860-8AB7-6758A30EFF46}"/>
              </a:ext>
            </a:extLst>
          </p:cNvPr>
          <p:cNvSpPr>
            <a:spLocks xmlns:a="http://schemas.openxmlformats.org/drawingml/2006/main" noGrp="1"/>
          </p:cNvSpPr>
          <p:nvPr/>
        </p:nvSpPr>
        <p:spPr>
          <a:xfrm xmlns:a="http://schemas.openxmlformats.org/drawingml/2006/main">
            <a:off x="609600" y="53054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52C3D"/>
                </a:solidFill>
                <a:latin typeface="Malgun Gothic"/>
                <a:ea typeface="Malgun Gothic"/>
                <a:cs typeface="Malgun Gothic"/>
              </a:defRPr>
            </a:defPPr>
          </a:lstStyle>
          <a:p xmlns:a="http://schemas.openxmlformats.org/drawingml/2006/main">
            <a:pPr>
              <a:defRPr sz="2400" b="1">
                <a:solidFill>
                  <a:srgbClr val="152C3D"/>
                </a:solidFill>
                <a:latin typeface="Malgun Gothic"/>
                <a:ea typeface="Malgun Gothic"/>
                <a:cs typeface="Malgun Gothic"/>
              </a:defRPr>
            </a:pPr>
            <a:r>
              <a:rPr sz="2400" b="1">
                <a:solidFill>
                  <a:srgbClr val="152C3D"/>
                </a:solidFill>
                <a:latin typeface="Malgun Gothic"/>
                <a:ea typeface="Malgun Gothic"/>
                <a:cs typeface="Malgun Gothic"/>
              </a:rPr>
              <a:t>기대 효과: 중간 변화 보존과 불필요한 전송 감소</a:t>
            </a:r>
          </a:p>
        </p:txBody>
      </p:sp>
      <p:sp>
        <p:nvSpPr>
          <p:cNvPr id="8" name="구현 전 제안. 개선 효과는 동일 조건의 전후 실험으로 확">
            <a:extLst xmlns:a="http://schemas.openxmlformats.org/drawingml/2006/main">
              <a:ext uri="{FF2B5EF4-FFF2-40B4-BE49-F238E27FC236}">
                <a16:creationId xmlns:a16="http://schemas.microsoft.com/office/drawing/2014/main" id="{15186738-1367-4273-8F1B-0158EBC31CC5}"/>
              </a:ext>
            </a:extLst>
          </p:cNvPr>
          <p:cNvSpPr>
            <a:spLocks xmlns:a="http://schemas.openxmlformats.org/drawingml/2006/main" noGrp="1"/>
          </p:cNvSpPr>
          <p:nvPr/>
        </p:nvSpPr>
        <p:spPr>
          <a:xfrm xmlns:a="http://schemas.openxmlformats.org/drawingml/2006/main">
            <a:off x="609600" y="61531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773"/>
                </a:solidFill>
                <a:latin typeface="Malgun Gothic"/>
                <a:ea typeface="Malgun Gothic"/>
                <a:cs typeface="Malgun Gothic"/>
              </a:defRPr>
            </a:defPPr>
          </a:lstStyle>
          <a:p xmlns:a="http://schemas.openxmlformats.org/drawingml/2006/main">
            <a:pPr>
              <a:defRPr sz="1500" b="0">
                <a:solidFill>
                  <a:srgbClr val="526773"/>
                </a:solidFill>
                <a:latin typeface="Malgun Gothic"/>
                <a:ea typeface="Malgun Gothic"/>
                <a:cs typeface="Malgun Gothic"/>
              </a:defRPr>
            </a:pPr>
            <a:r>
              <a:rPr sz="1500" b="0">
                <a:solidFill>
                  <a:srgbClr val="526773"/>
                </a:solidFill>
                <a:latin typeface="Malgun Gothic"/>
                <a:ea typeface="Malgun Gothic"/>
                <a:cs typeface="Malgun Gothic"/>
              </a:rPr>
              <a:t>구현 전 제안. 개선 효과는 동일 조건의 전후 실험으로 확인</a:t>
            </a:r>
          </a:p>
        </p:txBody>
      </p:sp>
    </p:spTree>
    <p:extLst>
      <p:ext uri="{BB962C8B-B14F-4D97-AF65-F5344CB8AC3E}">
        <p14:creationId xmlns:p14="http://schemas.microsoft.com/office/powerpoint/2010/main" val="17349416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2026-10-11T12:01:51.3220000Z</dcterms:created>
  <dcterms:modified xsi:type="dcterms:W3CDTF">2026-10-11T12:01:51.3220000Z</dcterms:modified>
</coreProperties>
</file>